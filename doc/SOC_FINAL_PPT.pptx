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58" r:id="rId4"/>
    <p:sldId id="259" r:id="rId5"/>
    <p:sldId id="261" r:id="rId6"/>
    <p:sldId id="262" r:id="rId7"/>
    <p:sldId id="263" r:id="rId8"/>
    <p:sldId id="277" r:id="rId9"/>
    <p:sldId id="264" r:id="rId10"/>
    <p:sldId id="265" r:id="rId11"/>
    <p:sldId id="266" r:id="rId12"/>
    <p:sldId id="281" r:id="rId13"/>
    <p:sldId id="267" r:id="rId14"/>
    <p:sldId id="269" r:id="rId15"/>
    <p:sldId id="275" r:id="rId16"/>
    <p:sldId id="276" r:id="rId17"/>
    <p:sldId id="278" r:id="rId18"/>
    <p:sldId id="279" r:id="rId19"/>
    <p:sldId id="280" r:id="rId20"/>
    <p:sldId id="271" r:id="rId21"/>
    <p:sldId id="272" r:id="rId22"/>
    <p:sldId id="274" r:id="rId2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iM+FQWB09mP7JpfQqSUp39kM8W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34A7D7-CBE5-4F64-A7C4-6B1F1DB8436E}">
  <a:tblStyle styleId="{1B34A7D7-CBE5-4F64-A7C4-6B1F1DB8436E}"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F9FA"/>
          </a:solidFill>
        </a:fill>
      </a:tcStyle>
    </a:wholeTbl>
    <a:band1H>
      <a:tcTxStyle/>
      <a:tcStyle>
        <a:tcBdr/>
        <a:fill>
          <a:solidFill>
            <a:srgbClr val="E7F3F4"/>
          </a:solidFill>
        </a:fill>
      </a:tcStyle>
    </a:band1H>
    <a:band2H>
      <a:tcTxStyle/>
      <a:tcStyle>
        <a:tcBdr/>
      </a:tcStyle>
    </a:band2H>
    <a:band1V>
      <a:tcTxStyle/>
      <a:tcStyle>
        <a:tcBdr/>
        <a:fill>
          <a:solidFill>
            <a:srgbClr val="E7F3F4"/>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21" autoAdjust="0"/>
    <p:restoredTop sz="94660"/>
  </p:normalViewPr>
  <p:slideViewPr>
    <p:cSldViewPr snapToGrid="0">
      <p:cViewPr varScale="1">
        <p:scale>
          <a:sx n="84" d="100"/>
          <a:sy n="84" d="100"/>
        </p:scale>
        <p:origin x="132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Manikandan</a:t>
            </a:r>
            <a:endParaRPr dirty="0"/>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95" name="Google Shape;9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853e950286_1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02" name="Google Shape;102;g3853e950286_1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Balaji</a:t>
            </a:r>
            <a:endParaRPr dirty="0"/>
          </a:p>
        </p:txBody>
      </p:sp>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Balaji</a:t>
            </a:r>
            <a:endParaRPr dirty="0"/>
          </a:p>
        </p:txBody>
      </p:sp>
      <p:sp>
        <p:nvSpPr>
          <p:cNvPr id="126" name="Google Shape;12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853e950286_1_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34" name="Google Shape;134;g3853e950286_1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41" name="Google Shape;14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AB2490AD-87BE-49AE-7B9D-3EBF3BF49C85}"/>
            </a:ext>
          </a:extLst>
        </p:cNvPr>
        <p:cNvGrpSpPr/>
        <p:nvPr/>
      </p:nvGrpSpPr>
      <p:grpSpPr>
        <a:xfrm>
          <a:off x="0" y="0"/>
          <a:ext cx="0" cy="0"/>
          <a:chOff x="0" y="0"/>
          <a:chExt cx="0" cy="0"/>
        </a:xfrm>
      </p:grpSpPr>
      <p:sp>
        <p:nvSpPr>
          <p:cNvPr id="140" name="Google Shape;140;p7:notes">
            <a:extLst>
              <a:ext uri="{FF2B5EF4-FFF2-40B4-BE49-F238E27FC236}">
                <a16:creationId xmlns:a16="http://schemas.microsoft.com/office/drawing/2014/main" id="{5DF3E2B7-093E-C6CB-241D-04DBD35414C0}"/>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41" name="Google Shape;141;p7:notes">
            <a:extLst>
              <a:ext uri="{FF2B5EF4-FFF2-40B4-BE49-F238E27FC236}">
                <a16:creationId xmlns:a16="http://schemas.microsoft.com/office/drawing/2014/main" id="{73F399F9-3E31-2584-00BD-082B55C7252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1614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853e950286_1_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48" name="Google Shape;148;g3853e950286_1_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55" name="Google Shape;15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Balaji</a:t>
            </a:r>
            <a:endParaRPr dirty="0"/>
          </a:p>
        </p:txBody>
      </p:sp>
      <p:sp>
        <p:nvSpPr>
          <p:cNvPr id="163" name="Google Shape;16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C118CFE2-7B18-6448-EB3B-6862B9F00F01}"/>
            </a:ext>
          </a:extLst>
        </p:cNvPr>
        <p:cNvGrpSpPr/>
        <p:nvPr/>
      </p:nvGrpSpPr>
      <p:grpSpPr>
        <a:xfrm>
          <a:off x="0" y="0"/>
          <a:ext cx="0" cy="0"/>
          <a:chOff x="0" y="0"/>
          <a:chExt cx="0" cy="0"/>
        </a:xfrm>
      </p:grpSpPr>
      <p:sp>
        <p:nvSpPr>
          <p:cNvPr id="170" name="Google Shape;170;p10:notes">
            <a:extLst>
              <a:ext uri="{FF2B5EF4-FFF2-40B4-BE49-F238E27FC236}">
                <a16:creationId xmlns:a16="http://schemas.microsoft.com/office/drawing/2014/main" id="{5EC756D4-F075-DC6A-BECD-85052890CD4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Balaji</a:t>
            </a:r>
            <a:endParaRPr dirty="0"/>
          </a:p>
        </p:txBody>
      </p:sp>
      <p:sp>
        <p:nvSpPr>
          <p:cNvPr id="171" name="Google Shape;171;p10:notes">
            <a:extLst>
              <a:ext uri="{FF2B5EF4-FFF2-40B4-BE49-F238E27FC236}">
                <a16:creationId xmlns:a16="http://schemas.microsoft.com/office/drawing/2014/main" id="{0274C0A7-7E9B-31DF-9BC5-DF306A3DDC7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9075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Balaji</a:t>
            </a:r>
            <a:endParaRPr dirty="0"/>
          </a:p>
        </p:txBody>
      </p:sp>
      <p:sp>
        <p:nvSpPr>
          <p:cNvPr id="171" name="Google Shape;17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85" name="Google Shape;18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07712CB5-55BF-202E-18B5-7638D89949AE}"/>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CBA0CE7E-69C6-D32B-974E-5945109E3E0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92" name="Google Shape;192;p16:notes">
            <a:extLst>
              <a:ext uri="{FF2B5EF4-FFF2-40B4-BE49-F238E27FC236}">
                <a16:creationId xmlns:a16="http://schemas.microsoft.com/office/drawing/2014/main" id="{E210157D-4477-48A1-CA9C-B93025DB899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8425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B560A57D-94E3-9CAB-4767-7FF27200020B}"/>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51F2746D-4EBB-3EF2-D398-34920F48EEF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92" name="Google Shape;192;p16:notes">
            <a:extLst>
              <a:ext uri="{FF2B5EF4-FFF2-40B4-BE49-F238E27FC236}">
                <a16:creationId xmlns:a16="http://schemas.microsoft.com/office/drawing/2014/main" id="{D1986A71-C19A-F5EC-033E-AEFD9FE3FE3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7452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84567369-2CC0-C9BA-F5BC-367BA01F1118}"/>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55A10F00-676E-6D24-0EFF-7B9FFBA591A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92" name="Google Shape;192;p16:notes">
            <a:extLst>
              <a:ext uri="{FF2B5EF4-FFF2-40B4-BE49-F238E27FC236}">
                <a16:creationId xmlns:a16="http://schemas.microsoft.com/office/drawing/2014/main" id="{09C3C0BF-9DD0-E493-FED0-B028C17E37C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7464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623E2D8B-5DD6-2707-941D-C982DB4B6AD3}"/>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16237036-1DC0-BE65-221A-C5897563228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92" name="Google Shape;192;p16:notes">
            <a:extLst>
              <a:ext uri="{FF2B5EF4-FFF2-40B4-BE49-F238E27FC236}">
                <a16:creationId xmlns:a16="http://schemas.microsoft.com/office/drawing/2014/main" id="{A5367689-AAA2-1C6F-8D07-19C8B801833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1694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C0E4D49C-D933-A637-27F8-ED33F625E68F}"/>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F3E7D700-0070-FBA4-932C-62A5864EC9C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92" name="Google Shape;192;p16:notes">
            <a:extLst>
              <a:ext uri="{FF2B5EF4-FFF2-40B4-BE49-F238E27FC236}">
                <a16:creationId xmlns:a16="http://schemas.microsoft.com/office/drawing/2014/main" id="{144D2174-3CBC-CDC7-9DD2-334722C5D52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2927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199" name="Google Shape;19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Manikandan</a:t>
            </a:r>
            <a:endParaRPr dirty="0"/>
          </a:p>
        </p:txBody>
      </p:sp>
      <p:sp>
        <p:nvSpPr>
          <p:cNvPr id="206" name="Google Shape;20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Both</a:t>
            </a:r>
            <a:endParaRPr dirty="0"/>
          </a:p>
        </p:txBody>
      </p:sp>
      <p:sp>
        <p:nvSpPr>
          <p:cNvPr id="220" name="Google Shape;22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a:endParaRPr/>
          </a:p>
        </p:txBody>
      </p:sp>
      <p:sp>
        <p:nvSpPr>
          <p:cNvPr id="18" name="Google Shape;18;p24"/>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4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4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4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4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4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4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4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4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4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4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4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4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4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4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26"/>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6"/>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6"/>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 name="Google Shape;34;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Arial"/>
              <a:buNone/>
              <a:defRPr sz="2000"/>
            </a:lvl1pPr>
            <a:lvl2pPr marL="914400" lvl="1" indent="-228600" algn="l">
              <a:spcBef>
                <a:spcPts val="360"/>
              </a:spcBef>
              <a:spcAft>
                <a:spcPts val="0"/>
              </a:spcAft>
              <a:buClr>
                <a:schemeClr val="dk1"/>
              </a:buClr>
              <a:buSzPts val="1800"/>
              <a:buFont typeface="Arial"/>
              <a:buNone/>
              <a:defRPr sz="1800"/>
            </a:lvl2pPr>
            <a:lvl3pPr marL="1371600" lvl="2" indent="-228600" algn="l">
              <a:spcBef>
                <a:spcPts val="320"/>
              </a:spcBef>
              <a:spcAft>
                <a:spcPts val="0"/>
              </a:spcAft>
              <a:buClr>
                <a:schemeClr val="dk1"/>
              </a:buClr>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35" name="Google Shape;35;p27"/>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7"/>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1" name="Google Shape;41;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2" name="Google Shape;42;p28"/>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8" name="Google Shape;48;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9" name="Google Shape;49;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50" name="Google Shape;50;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1" name="Google Shape;51;p29"/>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0"/>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0"/>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0"/>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3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61" name="Google Shape;61;p3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62" name="Google Shape;62;p31"/>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1"/>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1"/>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32"/>
          <p:cNvSpPr>
            <a:spLocks noGrp="1"/>
          </p:cNvSpPr>
          <p:nvPr>
            <p:ph type="pic" idx="2"/>
          </p:nvPr>
        </p:nvSpPr>
        <p:spPr>
          <a:xfrm>
            <a:off x="1792288" y="612775"/>
            <a:ext cx="5486400" cy="4114800"/>
          </a:xfrm>
          <a:prstGeom prst="rect">
            <a:avLst/>
          </a:prstGeom>
          <a:noFill/>
          <a:ln>
            <a:noFill/>
          </a:ln>
        </p:spPr>
      </p:sp>
      <p:sp>
        <p:nvSpPr>
          <p:cNvPr id="68" name="Google Shape;68;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69" name="Google Shape;69;p32"/>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3"/>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3"/>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4"/>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4"/>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Arial"/>
                <a:ea typeface="Arial"/>
                <a:cs typeface="Arial"/>
                <a:sym typeface="Arial"/>
              </a:defRPr>
            </a:lvl1pPr>
            <a:lvl2pPr marL="0" lvl="1" indent="0" algn="r">
              <a:spcBef>
                <a:spcPts val="0"/>
              </a:spcBef>
              <a:spcAft>
                <a:spcPts val="0"/>
              </a:spcAft>
              <a:buNone/>
              <a:defRPr sz="1400">
                <a:solidFill>
                  <a:schemeClr val="dk1"/>
                </a:solidFill>
                <a:latin typeface="Arial"/>
                <a:ea typeface="Arial"/>
                <a:cs typeface="Arial"/>
                <a:sym typeface="Arial"/>
              </a:defRPr>
            </a:lvl2pPr>
            <a:lvl3pPr marL="0" lvl="2" indent="0" algn="r">
              <a:spcBef>
                <a:spcPts val="0"/>
              </a:spcBef>
              <a:spcAft>
                <a:spcPts val="0"/>
              </a:spcAft>
              <a:buNone/>
              <a:defRPr sz="1400">
                <a:solidFill>
                  <a:schemeClr val="dk1"/>
                </a:solidFill>
                <a:latin typeface="Arial"/>
                <a:ea typeface="Arial"/>
                <a:cs typeface="Arial"/>
                <a:sym typeface="Arial"/>
              </a:defRPr>
            </a:lvl3pPr>
            <a:lvl4pPr marL="0" lvl="3" indent="0" algn="r">
              <a:spcBef>
                <a:spcPts val="0"/>
              </a:spcBef>
              <a:spcAft>
                <a:spcPts val="0"/>
              </a:spcAft>
              <a:buNone/>
              <a:defRPr sz="1400">
                <a:solidFill>
                  <a:schemeClr val="dk1"/>
                </a:solidFill>
                <a:latin typeface="Arial"/>
                <a:ea typeface="Arial"/>
                <a:cs typeface="Arial"/>
                <a:sym typeface="Arial"/>
              </a:defRPr>
            </a:lvl4pPr>
            <a:lvl5pPr marL="0" lvl="4" indent="0" algn="r">
              <a:spcBef>
                <a:spcPts val="0"/>
              </a:spcBef>
              <a:spcAft>
                <a:spcPts val="0"/>
              </a:spcAft>
              <a:buNone/>
              <a:defRPr sz="1400">
                <a:solidFill>
                  <a:schemeClr val="dk1"/>
                </a:solidFill>
                <a:latin typeface="Arial"/>
                <a:ea typeface="Arial"/>
                <a:cs typeface="Arial"/>
                <a:sym typeface="Arial"/>
              </a:defRPr>
            </a:lvl5pPr>
            <a:lvl6pPr marL="0" lvl="5" indent="0" algn="r">
              <a:spcBef>
                <a:spcPts val="0"/>
              </a:spcBef>
              <a:spcAft>
                <a:spcPts val="0"/>
              </a:spcAft>
              <a:buNone/>
              <a:defRPr sz="1400">
                <a:solidFill>
                  <a:schemeClr val="dk1"/>
                </a:solidFill>
                <a:latin typeface="Arial"/>
                <a:ea typeface="Arial"/>
                <a:cs typeface="Arial"/>
                <a:sym typeface="Arial"/>
              </a:defRPr>
            </a:lvl6pPr>
            <a:lvl7pPr marL="0" lvl="6" indent="0" algn="r">
              <a:spcBef>
                <a:spcPts val="0"/>
              </a:spcBef>
              <a:spcAft>
                <a:spcPts val="0"/>
              </a:spcAft>
              <a:buNone/>
              <a:defRPr sz="1400">
                <a:solidFill>
                  <a:schemeClr val="dk1"/>
                </a:solidFill>
                <a:latin typeface="Arial"/>
                <a:ea typeface="Arial"/>
                <a:cs typeface="Arial"/>
                <a:sym typeface="Arial"/>
              </a:defRPr>
            </a:lvl7pPr>
            <a:lvl8pPr marL="0" lvl="7" indent="0" algn="r">
              <a:spcBef>
                <a:spcPts val="0"/>
              </a:spcBef>
              <a:spcAft>
                <a:spcPts val="0"/>
              </a:spcAft>
              <a:buNone/>
              <a:defRPr sz="1400">
                <a:solidFill>
                  <a:schemeClr val="dk1"/>
                </a:solidFill>
                <a:latin typeface="Arial"/>
                <a:ea typeface="Arial"/>
                <a:cs typeface="Arial"/>
                <a:sym typeface="Arial"/>
              </a:defRPr>
            </a:lvl8pPr>
            <a:lvl9pPr marL="0" lvl="8" indent="0" algn="r">
              <a:spcBef>
                <a:spcPts val="0"/>
              </a:spcBef>
              <a:spcAft>
                <a:spcPts val="0"/>
              </a:spcAft>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11" name="Google Shape;11;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3"/>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3"/>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07504" y="836712"/>
            <a:ext cx="8928992" cy="142713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SzPts val="1100"/>
              <a:buNone/>
            </a:pPr>
            <a:r>
              <a:rPr lang="en-US" sz="2500" b="1">
                <a:solidFill>
                  <a:schemeClr val="dk1"/>
                </a:solidFill>
                <a:latin typeface="Times New Roman"/>
                <a:ea typeface="Times New Roman"/>
                <a:cs typeface="Times New Roman"/>
                <a:sym typeface="Times New Roman"/>
              </a:rPr>
              <a:t>HETEROGENEOUS MULTI-CORE SOC ARCHITECTURE FOR REAL-TIME BIOMEDICAL DATA ANALYSIS</a:t>
            </a:r>
            <a:endParaRPr sz="3100" b="1">
              <a:latin typeface="Times New Roman"/>
              <a:ea typeface="Times New Roman"/>
              <a:cs typeface="Times New Roman"/>
              <a:sym typeface="Times New Roman"/>
            </a:endParaRPr>
          </a:p>
        </p:txBody>
      </p:sp>
      <p:sp>
        <p:nvSpPr>
          <p:cNvPr id="90" name="Google Shape;90;p1"/>
          <p:cNvSpPr/>
          <p:nvPr/>
        </p:nvSpPr>
        <p:spPr>
          <a:xfrm>
            <a:off x="1372583" y="3800443"/>
            <a:ext cx="6409977" cy="180057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3200"/>
              <a:buFont typeface="Arial"/>
              <a:buNone/>
            </a:pPr>
            <a:endParaRPr sz="3200" b="0" i="0" u="none" strike="noStrike" cap="none">
              <a:solidFill>
                <a:schemeClr val="dk1"/>
              </a:solidFill>
              <a:latin typeface="Arial"/>
              <a:ea typeface="Arial"/>
              <a:cs typeface="Arial"/>
              <a:sym typeface="Arial"/>
            </a:endParaRPr>
          </a:p>
          <a:p>
            <a:pPr marL="0" marR="0" lvl="0" indent="0" algn="ctr" rtl="0">
              <a:spcBef>
                <a:spcPts val="640"/>
              </a:spcBef>
              <a:spcAft>
                <a:spcPts val="0"/>
              </a:spcAft>
              <a:buClr>
                <a:schemeClr val="dk1"/>
              </a:buClr>
              <a:buSzPts val="3200"/>
              <a:buFont typeface="Arial"/>
              <a:buNone/>
            </a:pPr>
            <a:endParaRPr sz="3200" b="0" i="0" u="none" strike="noStrike" cap="none">
              <a:solidFill>
                <a:schemeClr val="dk1"/>
              </a:solidFill>
              <a:latin typeface="Arial"/>
              <a:ea typeface="Arial"/>
              <a:cs typeface="Arial"/>
              <a:sym typeface="Arial"/>
            </a:endParaRPr>
          </a:p>
          <a:p>
            <a:pPr marL="0" marR="0" lvl="0" indent="0" algn="ctr" rtl="0">
              <a:spcBef>
                <a:spcPts val="640"/>
              </a:spcBef>
              <a:spcAft>
                <a:spcPts val="0"/>
              </a:spcAft>
              <a:buClr>
                <a:schemeClr val="dk1"/>
              </a:buClr>
              <a:buSzPts val="3200"/>
              <a:buFont typeface="Arial"/>
              <a:buNone/>
            </a:pPr>
            <a:endParaRPr sz="3200" b="0" i="0" u="none" strike="noStrike" cap="none">
              <a:solidFill>
                <a:schemeClr val="dk1"/>
              </a:solidFill>
              <a:latin typeface="Arial"/>
              <a:ea typeface="Arial"/>
              <a:cs typeface="Arial"/>
              <a:sym typeface="Arial"/>
            </a:endParaRPr>
          </a:p>
        </p:txBody>
      </p:sp>
      <p:sp>
        <p:nvSpPr>
          <p:cNvPr id="91" name="Google Shape;91;p1"/>
          <p:cNvSpPr txBox="1"/>
          <p:nvPr/>
        </p:nvSpPr>
        <p:spPr>
          <a:xfrm>
            <a:off x="976064" y="2600114"/>
            <a:ext cx="7772400" cy="240061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000" b="1" i="0" u="none" strike="noStrike" cap="none" dirty="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Presented by  :</a:t>
            </a:r>
            <a:r>
              <a:rPr lang="en-US" sz="2000" b="0" i="0" u="none" strike="noStrike" cap="none" dirty="0">
                <a:solidFill>
                  <a:schemeClr val="dk1"/>
                </a:solidFill>
                <a:latin typeface="Times New Roman"/>
                <a:ea typeface="Times New Roman"/>
                <a:cs typeface="Times New Roman"/>
                <a:sym typeface="Times New Roman"/>
              </a:rPr>
              <a:t>     </a:t>
            </a:r>
            <a:r>
              <a:rPr lang="en-US" sz="2000" dirty="0">
                <a:solidFill>
                  <a:schemeClr val="dk1"/>
                </a:solidFill>
                <a:latin typeface="Times New Roman"/>
                <a:ea typeface="Times New Roman"/>
                <a:cs typeface="Times New Roman"/>
                <a:sym typeface="Times New Roman"/>
              </a:rPr>
              <a:t>BALAJI S</a:t>
            </a:r>
            <a:r>
              <a:rPr lang="en-US" sz="2000" b="0" i="0" u="none" strike="noStrike" cap="none" dirty="0">
                <a:solidFill>
                  <a:schemeClr val="dk1"/>
                </a:solidFill>
                <a:latin typeface="Times New Roman"/>
                <a:ea typeface="Times New Roman"/>
                <a:cs typeface="Times New Roman"/>
                <a:sym typeface="Times New Roman"/>
              </a:rPr>
              <a:t>           </a:t>
            </a:r>
            <a:r>
              <a:rPr lang="en-US" sz="2000" dirty="0">
                <a:solidFill>
                  <a:schemeClr val="dk1"/>
                </a:solidFill>
                <a:latin typeface="Times New Roman"/>
                <a:ea typeface="Times New Roman"/>
                <a:cs typeface="Times New Roman"/>
                <a:sym typeface="Times New Roman"/>
              </a:rPr>
              <a:t>           </a:t>
            </a:r>
            <a:r>
              <a:rPr lang="en-US" sz="2000" b="0" i="0" u="none" strike="noStrike" cap="none" dirty="0">
                <a:solidFill>
                  <a:schemeClr val="dk1"/>
                </a:solidFill>
                <a:latin typeface="Times New Roman"/>
                <a:ea typeface="Times New Roman"/>
                <a:cs typeface="Times New Roman"/>
                <a:sym typeface="Times New Roman"/>
              </a:rPr>
              <a:t>2</a:t>
            </a:r>
            <a:r>
              <a:rPr lang="en-US" sz="2000" dirty="0">
                <a:solidFill>
                  <a:schemeClr val="dk1"/>
                </a:solidFill>
                <a:latin typeface="Times New Roman"/>
                <a:ea typeface="Times New Roman"/>
                <a:cs typeface="Times New Roman"/>
                <a:sym typeface="Times New Roman"/>
              </a:rPr>
              <a:t>2EC019</a:t>
            </a:r>
            <a:endParaRPr sz="20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		  </a:t>
            </a:r>
            <a:r>
              <a:rPr lang="en-US" sz="2000" dirty="0">
                <a:solidFill>
                  <a:schemeClr val="dk1"/>
                </a:solidFill>
                <a:latin typeface="Times New Roman"/>
                <a:ea typeface="Times New Roman"/>
                <a:cs typeface="Times New Roman"/>
                <a:sym typeface="Times New Roman"/>
              </a:rPr>
              <a:t>MANIKANDAN L</a:t>
            </a:r>
            <a:r>
              <a:rPr lang="en-US" sz="2000" b="0" i="0" u="none" strike="noStrike" cap="none" dirty="0">
                <a:solidFill>
                  <a:schemeClr val="dk1"/>
                </a:solidFill>
                <a:latin typeface="Times New Roman"/>
                <a:ea typeface="Times New Roman"/>
                <a:cs typeface="Times New Roman"/>
                <a:sym typeface="Times New Roman"/>
              </a:rPr>
              <a:t>       </a:t>
            </a:r>
            <a:r>
              <a:rPr lang="en-US" sz="2000" dirty="0">
                <a:solidFill>
                  <a:schemeClr val="dk1"/>
                </a:solidFill>
                <a:latin typeface="Times New Roman"/>
                <a:ea typeface="Times New Roman"/>
                <a:cs typeface="Times New Roman"/>
                <a:sym typeface="Times New Roman"/>
              </a:rPr>
              <a:t>22EC070</a:t>
            </a:r>
            <a:endParaRPr dirty="0"/>
          </a:p>
          <a:p>
            <a:pPr marL="0" marR="0" lvl="0" indent="0" algn="just" rtl="0">
              <a:lnSpc>
                <a:spcPct val="150000"/>
              </a:lnSpc>
              <a:spcBef>
                <a:spcPts val="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 </a:t>
            </a:r>
            <a:r>
              <a:rPr lang="en-US" sz="2000" b="1" i="0" u="none" strike="noStrike" cap="none" dirty="0">
                <a:solidFill>
                  <a:schemeClr val="dk1"/>
                </a:solidFill>
                <a:latin typeface="Times New Roman"/>
                <a:ea typeface="Times New Roman"/>
                <a:cs typeface="Times New Roman"/>
                <a:sym typeface="Times New Roman"/>
              </a:rPr>
              <a:t>Guided By</a:t>
            </a:r>
            <a:r>
              <a:rPr lang="en-US" sz="2000" b="0" i="0" u="none" strike="noStrike" cap="none" dirty="0">
                <a:solidFill>
                  <a:schemeClr val="dk1"/>
                </a:solidFill>
                <a:latin typeface="Times New Roman"/>
                <a:ea typeface="Times New Roman"/>
                <a:cs typeface="Times New Roman"/>
                <a:sym typeface="Times New Roman"/>
              </a:rPr>
              <a:t>      </a:t>
            </a:r>
            <a:r>
              <a:rPr lang="en-US" sz="2000" b="1" i="0" u="none" strike="noStrike" cap="none" dirty="0">
                <a:solidFill>
                  <a:schemeClr val="dk1"/>
                </a:solidFill>
                <a:latin typeface="Times New Roman"/>
                <a:ea typeface="Times New Roman"/>
                <a:cs typeface="Times New Roman"/>
                <a:sym typeface="Times New Roman"/>
              </a:rPr>
              <a:t>: </a:t>
            </a:r>
            <a:r>
              <a:rPr lang="en-US" sz="2000" b="0" i="0" u="none" strike="noStrike" cap="none" dirty="0">
                <a:solidFill>
                  <a:schemeClr val="dk1"/>
                </a:solidFill>
                <a:latin typeface="Times New Roman"/>
                <a:ea typeface="Times New Roman"/>
                <a:cs typeface="Times New Roman"/>
                <a:sym typeface="Times New Roman"/>
              </a:rPr>
              <a:t>  </a:t>
            </a:r>
            <a:r>
              <a:rPr lang="en-US" sz="2000" dirty="0">
                <a:solidFill>
                  <a:schemeClr val="dk1"/>
                </a:solidFill>
                <a:latin typeface="Times New Roman"/>
                <a:ea typeface="Times New Roman"/>
                <a:cs typeface="Times New Roman"/>
                <a:sym typeface="Times New Roman"/>
              </a:rPr>
              <a:t>Ms. A. SUBBULAKSHMI M.E.,</a:t>
            </a:r>
            <a:endParaRPr sz="2000" dirty="0">
              <a:latin typeface="Times New Roman"/>
              <a:ea typeface="Times New Roman"/>
              <a:cs typeface="Times New Roman"/>
              <a:sym typeface="Times New Roman"/>
            </a:endParaRPr>
          </a:p>
        </p:txBody>
      </p:sp>
      <p:pic>
        <p:nvPicPr>
          <p:cNvPr id="92" name="Google Shape;92;p1"/>
          <p:cNvPicPr preferRelativeResize="0"/>
          <p:nvPr/>
        </p:nvPicPr>
        <p:blipFill rotWithShape="1">
          <a:blip r:embed="rId3">
            <a:alphaModFix/>
          </a:blip>
          <a:srcRect/>
          <a:stretch/>
        </p:blipFill>
        <p:spPr>
          <a:xfrm>
            <a:off x="5571" y="6071153"/>
            <a:ext cx="9144000" cy="8435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flipH="1">
            <a:off x="529206" y="233202"/>
            <a:ext cx="8716111" cy="49863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PROBLEM DEFINITION</a:t>
            </a:r>
            <a:endParaRPr/>
          </a:p>
        </p:txBody>
      </p:sp>
      <p:sp>
        <p:nvSpPr>
          <p:cNvPr id="98" name="Google Shape;98;p3"/>
          <p:cNvSpPr txBox="1">
            <a:spLocks noGrp="1"/>
          </p:cNvSpPr>
          <p:nvPr>
            <p:ph type="body" idx="1"/>
          </p:nvPr>
        </p:nvSpPr>
        <p:spPr>
          <a:xfrm>
            <a:off x="457200" y="839249"/>
            <a:ext cx="8229600" cy="4797300"/>
          </a:xfrm>
          <a:prstGeom prst="rect">
            <a:avLst/>
          </a:prstGeom>
          <a:noFill/>
          <a:ln>
            <a:noFill/>
          </a:ln>
        </p:spPr>
        <p:txBody>
          <a:bodyPr spcFirstLastPara="1" wrap="square" lIns="91425" tIns="45700" rIns="91425" bIns="45700" anchor="t" anchorCtr="0">
            <a:noAutofit/>
          </a:bodyPr>
          <a:lstStyle/>
          <a:p>
            <a:pPr marL="342900" lvl="0" indent="-139700" algn="just" rtl="0">
              <a:lnSpc>
                <a:spcPct val="100000"/>
              </a:lnSpc>
              <a:spcBef>
                <a:spcPts val="0"/>
              </a:spcBef>
              <a:spcAft>
                <a:spcPts val="0"/>
              </a:spcAft>
              <a:buClr>
                <a:schemeClr val="dk1"/>
              </a:buClr>
              <a:buSzPts val="1100"/>
              <a:buFont typeface="Arial"/>
              <a:buNone/>
            </a:pPr>
            <a:r>
              <a:rPr lang="en-US" sz="1900" dirty="0">
                <a:latin typeface="Times New Roman"/>
                <a:ea typeface="Times New Roman"/>
                <a:cs typeface="Times New Roman"/>
                <a:sym typeface="Times New Roman"/>
              </a:rPr>
              <a:t> </a:t>
            </a:r>
            <a:r>
              <a:rPr lang="en-US" sz="2000" dirty="0">
                <a:latin typeface="Times New Roman"/>
                <a:ea typeface="Times New Roman"/>
                <a:cs typeface="Times New Roman"/>
                <a:sym typeface="Times New Roman"/>
              </a:rPr>
              <a:t>Current systems for real-time biomedical data analysis are inefficient and pose security risks.</a:t>
            </a:r>
            <a:endParaRPr sz="2000" dirty="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Char char="●"/>
            </a:pPr>
            <a:r>
              <a:rPr lang="en-US" sz="2000" b="1" dirty="0">
                <a:latin typeface="Times New Roman"/>
                <a:ea typeface="Times New Roman"/>
                <a:cs typeface="Times New Roman"/>
                <a:sym typeface="Times New Roman"/>
              </a:rPr>
              <a:t>Computational Inefficiency:</a:t>
            </a:r>
            <a:r>
              <a:rPr lang="en-US" sz="2000" dirty="0">
                <a:latin typeface="Times New Roman"/>
                <a:ea typeface="Times New Roman"/>
                <a:cs typeface="Times New Roman"/>
                <a:sym typeface="Times New Roman"/>
              </a:rPr>
              <a:t> General-purpose processors (GPPs) are slow and power-hungry for crucial tasks like signal filtering, causing unacceptable delays in real-time applications.</a:t>
            </a:r>
            <a:endParaRPr sz="2000" dirty="0">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endParaRPr sz="2000" dirty="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Char char="●"/>
            </a:pPr>
            <a:r>
              <a:rPr lang="en-US" sz="2000" b="1" dirty="0">
                <a:latin typeface="Times New Roman"/>
                <a:ea typeface="Times New Roman"/>
                <a:cs typeface="Times New Roman"/>
                <a:sym typeface="Times New Roman"/>
              </a:rPr>
              <a:t>Latency &amp; Security:</a:t>
            </a:r>
            <a:r>
              <a:rPr lang="en-US" sz="2000" dirty="0">
                <a:latin typeface="Times New Roman"/>
                <a:ea typeface="Times New Roman"/>
                <a:cs typeface="Times New Roman"/>
                <a:sym typeface="Times New Roman"/>
              </a:rPr>
              <a:t> Relying on the cloud for data processing introduces delays and exposes sensitive patient data to security risks.</a:t>
            </a:r>
            <a:endParaRPr sz="2000" dirty="0">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endParaRPr sz="2000" dirty="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Char char="●"/>
            </a:pPr>
            <a:r>
              <a:rPr lang="en-US" sz="2000" b="1" dirty="0">
                <a:latin typeface="Times New Roman"/>
                <a:ea typeface="Times New Roman"/>
                <a:cs typeface="Times New Roman"/>
                <a:sym typeface="Times New Roman"/>
              </a:rPr>
              <a:t>Fixed Hardware:</a:t>
            </a:r>
            <a:r>
              <a:rPr lang="en-US" sz="2000" dirty="0">
                <a:latin typeface="Times New Roman"/>
                <a:ea typeface="Times New Roman"/>
                <a:cs typeface="Times New Roman"/>
                <a:sym typeface="Times New Roman"/>
              </a:rPr>
              <a:t> Existing solutions use pre-built processors that can't be modified. This prevents us from creating specialized hardware for our specific needs.</a:t>
            </a:r>
            <a:endParaRPr sz="2000" dirty="0">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endParaRPr sz="2000" dirty="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Char char="●"/>
            </a:pPr>
            <a:r>
              <a:rPr lang="en-US" sz="2000" b="1" dirty="0">
                <a:latin typeface="Times New Roman"/>
                <a:ea typeface="Times New Roman"/>
                <a:cs typeface="Times New Roman"/>
                <a:sym typeface="Times New Roman"/>
              </a:rPr>
              <a:t>Inaccurate Diagnosis:</a:t>
            </a:r>
            <a:r>
              <a:rPr lang="en-US" sz="2000" dirty="0">
                <a:latin typeface="Times New Roman"/>
                <a:ea typeface="Times New Roman"/>
                <a:cs typeface="Times New Roman"/>
                <a:sym typeface="Times New Roman"/>
              </a:rPr>
              <a:t> Calculation errors in bio-signals often occur due to the inefficient and incomplete removal of noise, affecting diagnostic accuracy.</a:t>
            </a:r>
            <a:endParaRPr sz="2000"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Font typeface="Arial"/>
              <a:buNone/>
            </a:pPr>
            <a:endParaRPr sz="33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Font typeface="Arial"/>
              <a:buNone/>
            </a:pPr>
            <a:endParaRPr sz="3300"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Font typeface="Arial"/>
              <a:buNone/>
            </a:pPr>
            <a:endParaRPr sz="3300"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Font typeface="Arial"/>
              <a:buNone/>
            </a:pPr>
            <a:endParaRPr sz="3300" dirty="0">
              <a:latin typeface="Times New Roman"/>
              <a:ea typeface="Times New Roman"/>
              <a:cs typeface="Times New Roman"/>
              <a:sym typeface="Times New Roman"/>
            </a:endParaRPr>
          </a:p>
        </p:txBody>
      </p:sp>
      <p:pic>
        <p:nvPicPr>
          <p:cNvPr id="99" name="Google Shape;99;p3"/>
          <p:cNvPicPr preferRelativeResize="0"/>
          <p:nvPr/>
        </p:nvPicPr>
        <p:blipFill rotWithShape="1">
          <a:blip r:embed="rId3">
            <a:alphaModFix/>
          </a:blip>
          <a:srcRect/>
          <a:stretch/>
        </p:blipFill>
        <p:spPr>
          <a:xfrm>
            <a:off x="0" y="6014458"/>
            <a:ext cx="9144000" cy="8435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3853e950286_1_7"/>
          <p:cNvSpPr txBox="1">
            <a:spLocks noGrp="1"/>
          </p:cNvSpPr>
          <p:nvPr>
            <p:ph type="title"/>
          </p:nvPr>
        </p:nvSpPr>
        <p:spPr>
          <a:xfrm flipH="1">
            <a:off x="529117" y="233202"/>
            <a:ext cx="8716200" cy="498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EXISTING SOLUTION</a:t>
            </a:r>
            <a:endParaRPr/>
          </a:p>
        </p:txBody>
      </p:sp>
      <p:pic>
        <p:nvPicPr>
          <p:cNvPr id="105" name="Google Shape;105;g3853e950286_1_7"/>
          <p:cNvPicPr preferRelativeResize="0"/>
          <p:nvPr/>
        </p:nvPicPr>
        <p:blipFill rotWithShape="1">
          <a:blip r:embed="rId3">
            <a:alphaModFix/>
          </a:blip>
          <a:srcRect/>
          <a:stretch/>
        </p:blipFill>
        <p:spPr>
          <a:xfrm>
            <a:off x="0" y="6014458"/>
            <a:ext cx="9144001" cy="843542"/>
          </a:xfrm>
          <a:prstGeom prst="rect">
            <a:avLst/>
          </a:prstGeom>
          <a:noFill/>
          <a:ln>
            <a:noFill/>
          </a:ln>
        </p:spPr>
      </p:pic>
      <p:sp>
        <p:nvSpPr>
          <p:cNvPr id="106" name="Google Shape;106;g3853e950286_1_7"/>
          <p:cNvSpPr txBox="1"/>
          <p:nvPr/>
        </p:nvSpPr>
        <p:spPr>
          <a:xfrm rot="10800000" flipH="1">
            <a:off x="179511" y="1121155"/>
            <a:ext cx="9304200" cy="3693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 </a:t>
            </a:r>
            <a:endParaRPr/>
          </a:p>
        </p:txBody>
      </p:sp>
      <p:sp>
        <p:nvSpPr>
          <p:cNvPr id="107" name="Google Shape;107;g3853e950286_1_7"/>
          <p:cNvSpPr txBox="1"/>
          <p:nvPr/>
        </p:nvSpPr>
        <p:spPr>
          <a:xfrm>
            <a:off x="371475" y="826300"/>
            <a:ext cx="8227200" cy="4833900"/>
          </a:xfrm>
          <a:prstGeom prst="rect">
            <a:avLst/>
          </a:prstGeom>
          <a:noFill/>
          <a:ln>
            <a:noFill/>
          </a:ln>
        </p:spPr>
        <p:txBody>
          <a:bodyPr spcFirstLastPara="1" wrap="square" lIns="91425" tIns="91425" rIns="91425" bIns="91425" anchor="t" anchorCtr="0">
            <a:noAutofit/>
          </a:bodyPr>
          <a:lstStyle/>
          <a:p>
            <a:pPr marL="457200" lvl="0" indent="-355600" algn="just" rtl="0">
              <a:spcBef>
                <a:spcPts val="0"/>
              </a:spcBef>
              <a:spcAft>
                <a:spcPts val="0"/>
              </a:spcAft>
              <a:buClr>
                <a:schemeClr val="dk1"/>
              </a:buClr>
              <a:buSzPts val="2000"/>
              <a:buFont typeface="Times New Roman"/>
              <a:buChar char="●"/>
            </a:pPr>
            <a:r>
              <a:rPr lang="en-US" sz="2000" b="1" dirty="0">
                <a:solidFill>
                  <a:schemeClr val="dk1"/>
                </a:solidFill>
                <a:latin typeface="Times New Roman"/>
                <a:ea typeface="Times New Roman"/>
                <a:cs typeface="Times New Roman"/>
                <a:sym typeface="Times New Roman"/>
              </a:rPr>
              <a:t>General-Purpose Microcontrollers</a:t>
            </a:r>
            <a:r>
              <a:rPr lang="en-US" sz="2000" dirty="0">
                <a:solidFill>
                  <a:schemeClr val="dk1"/>
                </a:solidFill>
                <a:latin typeface="Times New Roman"/>
                <a:ea typeface="Times New Roman"/>
                <a:cs typeface="Times New Roman"/>
                <a:sym typeface="Times New Roman"/>
              </a:rPr>
              <a:t>: These are not designed for computationally intensive tasks, making them slow and power-hungry for complex signal processing.</a:t>
            </a:r>
            <a:endParaRPr sz="20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457200" lvl="0" indent="-355600" algn="just" rtl="0">
              <a:spcBef>
                <a:spcPts val="0"/>
              </a:spcBef>
              <a:spcAft>
                <a:spcPts val="0"/>
              </a:spcAft>
              <a:buClr>
                <a:schemeClr val="dk1"/>
              </a:buClr>
              <a:buSzPts val="2000"/>
              <a:buFont typeface="Times New Roman"/>
              <a:buChar char="●"/>
            </a:pPr>
            <a:r>
              <a:rPr lang="en-US" sz="2000" b="1" dirty="0">
                <a:solidFill>
                  <a:schemeClr val="dk1"/>
                </a:solidFill>
                <a:latin typeface="Times New Roman"/>
                <a:ea typeface="Times New Roman"/>
                <a:cs typeface="Times New Roman"/>
                <a:sym typeface="Times New Roman"/>
              </a:rPr>
              <a:t>Off-the-Shelf DSP Processors</a:t>
            </a:r>
            <a:r>
              <a:rPr lang="en-US" sz="2000" dirty="0">
                <a:solidFill>
                  <a:schemeClr val="dk1"/>
                </a:solidFill>
                <a:latin typeface="Times New Roman"/>
                <a:ea typeface="Times New Roman"/>
                <a:cs typeface="Times New Roman"/>
                <a:sym typeface="Times New Roman"/>
              </a:rPr>
              <a:t>: DSP processors are fast, but they have a fixed Instruction Set Architecture (ISA) that cannot be modified with application-specific instructions.</a:t>
            </a:r>
            <a:endParaRPr sz="20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457200" lvl="0" indent="-355600" algn="just" rtl="0">
              <a:spcBef>
                <a:spcPts val="0"/>
              </a:spcBef>
              <a:spcAft>
                <a:spcPts val="0"/>
              </a:spcAft>
              <a:buClr>
                <a:schemeClr val="dk1"/>
              </a:buClr>
              <a:buSzPts val="2000"/>
              <a:buFont typeface="Times New Roman"/>
              <a:buChar char="●"/>
            </a:pPr>
            <a:r>
              <a:rPr lang="en-US" sz="2000" b="1" dirty="0">
                <a:solidFill>
                  <a:schemeClr val="dk1"/>
                </a:solidFill>
                <a:latin typeface="Times New Roman"/>
                <a:ea typeface="Times New Roman"/>
                <a:cs typeface="Times New Roman"/>
                <a:sym typeface="Times New Roman"/>
              </a:rPr>
              <a:t>Cloud-Based Solutions</a:t>
            </a:r>
            <a:r>
              <a:rPr lang="en-US" sz="2000" dirty="0">
                <a:solidFill>
                  <a:schemeClr val="dk1"/>
                </a:solidFill>
                <a:latin typeface="Times New Roman"/>
                <a:ea typeface="Times New Roman"/>
                <a:cs typeface="Times New Roman"/>
                <a:sym typeface="Times New Roman"/>
              </a:rPr>
              <a:t>: They offer powerful processing but introduce unacceptable latency and significant privacy risks for sensitive data.</a:t>
            </a:r>
            <a:endParaRPr sz="20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457200" lvl="0" indent="-355600" algn="just" rtl="0">
              <a:spcBef>
                <a:spcPts val="0"/>
              </a:spcBef>
              <a:spcAft>
                <a:spcPts val="0"/>
              </a:spcAft>
              <a:buClr>
                <a:schemeClr val="dk1"/>
              </a:buClr>
              <a:buSzPts val="2000"/>
              <a:buFont typeface="Times New Roman"/>
              <a:buChar char="●"/>
            </a:pPr>
            <a:r>
              <a:rPr lang="en-US" sz="2000" b="1" dirty="0">
                <a:solidFill>
                  <a:schemeClr val="dk1"/>
                </a:solidFill>
                <a:latin typeface="Times New Roman"/>
                <a:ea typeface="Times New Roman"/>
                <a:cs typeface="Times New Roman"/>
                <a:sym typeface="Times New Roman"/>
              </a:rPr>
              <a:t>Existing Hardware Accelerators</a:t>
            </a:r>
            <a:r>
              <a:rPr lang="en-US" sz="2000" dirty="0">
                <a:solidFill>
                  <a:schemeClr val="dk1"/>
                </a:solidFill>
                <a:latin typeface="Times New Roman"/>
                <a:ea typeface="Times New Roman"/>
                <a:cs typeface="Times New Roman"/>
                <a:sym typeface="Times New Roman"/>
              </a:rPr>
              <a:t>: These often focus on a single task, such as a CNN accelerator, but are not integrated into a complete System-on-Chip (SoC) that also includes general processing cores and peripherals.</a:t>
            </a: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883659" y="63983"/>
            <a:ext cx="7211100" cy="706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a:latin typeface="Times New Roman"/>
                <a:ea typeface="Times New Roman"/>
                <a:cs typeface="Times New Roman"/>
                <a:sym typeface="Times New Roman"/>
              </a:rPr>
              <a:t>  </a:t>
            </a:r>
            <a:r>
              <a:rPr lang="en-US" sz="3600" b="1">
                <a:latin typeface="Times New Roman"/>
                <a:ea typeface="Times New Roman"/>
                <a:cs typeface="Times New Roman"/>
                <a:sym typeface="Times New Roman"/>
              </a:rPr>
              <a:t>LITERATURE REVIEW</a:t>
            </a:r>
            <a:endParaRPr/>
          </a:p>
        </p:txBody>
      </p:sp>
      <p:sp>
        <p:nvSpPr>
          <p:cNvPr id="113" name="Google Shape;113;p4"/>
          <p:cNvSpPr/>
          <p:nvPr/>
        </p:nvSpPr>
        <p:spPr>
          <a:xfrm>
            <a:off x="609600" y="1219200"/>
            <a:ext cx="8077200" cy="37240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rgbClr val="002060"/>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9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3200">
              <a:solidFill>
                <a:schemeClr val="dk1"/>
              </a:solidFill>
              <a:latin typeface="Arial"/>
              <a:ea typeface="Arial"/>
              <a:cs typeface="Arial"/>
              <a:sym typeface="Arial"/>
            </a:endParaRPr>
          </a:p>
        </p:txBody>
      </p:sp>
      <p:graphicFrame>
        <p:nvGraphicFramePr>
          <p:cNvPr id="114" name="Google Shape;114;p4"/>
          <p:cNvGraphicFramePr/>
          <p:nvPr>
            <p:extLst>
              <p:ext uri="{D42A27DB-BD31-4B8C-83A1-F6EECF244321}">
                <p14:modId xmlns:p14="http://schemas.microsoft.com/office/powerpoint/2010/main" val="4048026715"/>
              </p:ext>
            </p:extLst>
          </p:nvPr>
        </p:nvGraphicFramePr>
        <p:xfrm>
          <a:off x="174350" y="770183"/>
          <a:ext cx="8795300" cy="5064135"/>
        </p:xfrm>
        <a:graphic>
          <a:graphicData uri="http://schemas.openxmlformats.org/drawingml/2006/table">
            <a:tbl>
              <a:tblPr firstRow="1" bandRow="1">
                <a:noFill/>
                <a:tableStyleId>{1B34A7D7-CBE5-4F64-A7C4-6B1F1DB8436E}</a:tableStyleId>
              </a:tblPr>
              <a:tblGrid>
                <a:gridCol w="709300">
                  <a:extLst>
                    <a:ext uri="{9D8B030D-6E8A-4147-A177-3AD203B41FA5}">
                      <a16:colId xmlns:a16="http://schemas.microsoft.com/office/drawing/2014/main" val="20000"/>
                    </a:ext>
                  </a:extLst>
                </a:gridCol>
                <a:gridCol w="2269750">
                  <a:extLst>
                    <a:ext uri="{9D8B030D-6E8A-4147-A177-3AD203B41FA5}">
                      <a16:colId xmlns:a16="http://schemas.microsoft.com/office/drawing/2014/main" val="20001"/>
                    </a:ext>
                  </a:extLst>
                </a:gridCol>
                <a:gridCol w="2079225">
                  <a:extLst>
                    <a:ext uri="{9D8B030D-6E8A-4147-A177-3AD203B41FA5}">
                      <a16:colId xmlns:a16="http://schemas.microsoft.com/office/drawing/2014/main" val="20002"/>
                    </a:ext>
                  </a:extLst>
                </a:gridCol>
                <a:gridCol w="3737025">
                  <a:extLst>
                    <a:ext uri="{9D8B030D-6E8A-4147-A177-3AD203B41FA5}">
                      <a16:colId xmlns:a16="http://schemas.microsoft.com/office/drawing/2014/main" val="20003"/>
                    </a:ext>
                  </a:extLst>
                </a:gridCol>
              </a:tblGrid>
              <a:tr h="427400">
                <a:tc>
                  <a:txBody>
                    <a:bodyPr/>
                    <a:lstStyle/>
                    <a:p>
                      <a:pPr marL="0" marR="0" lvl="0" indent="0" algn="l"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S.No</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Paper Title/Year</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Authors name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Discussion</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198325">
                <a:tc>
                  <a:txBody>
                    <a:bodyPr/>
                    <a:lstStyle/>
                    <a:p>
                      <a:pPr marL="0" marR="0" lvl="0" indent="0" algn="l" rtl="0">
                        <a:spcBef>
                          <a:spcPts val="0"/>
                        </a:spcBef>
                        <a:spcAft>
                          <a:spcPts val="0"/>
                        </a:spcAft>
                        <a:buNone/>
                      </a:pPr>
                      <a:r>
                        <a:rPr lang="en-US" sz="1800"/>
                        <a:t> </a:t>
                      </a:r>
                      <a:r>
                        <a:rPr lang="en-US" sz="1400"/>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r>
                        <a:rPr lang="en-US" sz="14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a:rPr>
                        <a:t>Design and Implementation of a RISC‑V SoC for Real‑Time Epilepsy Detection (2023)</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sz="14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a:rPr>
                        <a:t>J. He, H. Wang, X. Li, and Y. Zhang</a:t>
                      </a:r>
                      <a:endParaRPr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a:ea typeface="Times New Roman"/>
                          <a:cs typeface="Times New Roman"/>
                          <a:sym typeface="Times New Roman"/>
                        </a:rPr>
                        <a:t>The paper proposes a RISC‑V‑based SoC that directly acquires EEG signals, processes them on‑chip, and automatically detects epileptic seizures in real time. The SoC integrates an analog front‑end (for EEG acquisition), digital processing, and an embedded epilepsy detection program, enabling low‑latency, continuous monitoring without relying on cloud processing.</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10150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 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a:ea typeface="Times New Roman"/>
                          <a:cs typeface="Times New Roman"/>
                          <a:sym typeface="Times New Roman"/>
                        </a:rPr>
                        <a:t>A RISC‑V Based Medical Implantable SoC for High Voltage and Current Tissue Stimulus (2020)</a:t>
                      </a:r>
                      <a:endParaRPr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it-IT" sz="14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a:rPr>
                        <a:t>R. Rimolo‑Donadio et al.</a:t>
                      </a:r>
                      <a:endParaRPr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dirty="0">
                          <a:latin typeface="Times New Roman"/>
                          <a:ea typeface="Times New Roman"/>
                          <a:cs typeface="Times New Roman"/>
                          <a:sym typeface="Times New Roman"/>
                        </a:rPr>
                        <a:t>This work presents a RISC‑V‑based SoC called “Siwa” implemented in 0.18 </a:t>
                      </a:r>
                      <a:r>
                        <a:rPr lang="en-US" dirty="0" err="1">
                          <a:latin typeface="Times New Roman"/>
                          <a:ea typeface="Times New Roman"/>
                          <a:cs typeface="Times New Roman"/>
                          <a:sym typeface="Times New Roman"/>
                        </a:rPr>
                        <a:t>μm</a:t>
                      </a:r>
                      <a:r>
                        <a:rPr lang="en-US" dirty="0">
                          <a:latin typeface="Times New Roman"/>
                          <a:ea typeface="Times New Roman"/>
                          <a:cs typeface="Times New Roman"/>
                          <a:sym typeface="Times New Roman"/>
                        </a:rPr>
                        <a:t> HV‑CMOS, designed specifically for implantable medical devices that must deliver high‑voltage, high‑current electrical stimulation to biological tissue. The chip combines a RV32I RISC‑V microcontroller core (with SRAM, SPI, UART, GPIO, and a packet‑based bus) with analog stimulus and sensing circuits, focusing on very low energy per cycle (below about 50 </a:t>
                      </a:r>
                      <a:r>
                        <a:rPr lang="en-US" dirty="0" err="1">
                          <a:latin typeface="Times New Roman"/>
                          <a:ea typeface="Times New Roman"/>
                          <a:cs typeface="Times New Roman"/>
                          <a:sym typeface="Times New Roman"/>
                        </a:rPr>
                        <a:t>pJ</a:t>
                      </a:r>
                      <a:r>
                        <a:rPr lang="en-US" dirty="0">
                          <a:latin typeface="Times New Roman"/>
                          <a:ea typeface="Times New Roman"/>
                          <a:cs typeface="Times New Roman"/>
                          <a:sym typeface="Times New Roman"/>
                        </a:rPr>
                        <a:t>/cycle) and high reliability/safety for implantable use.</a:t>
                      </a:r>
                      <a:endParaRPr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pic>
        <p:nvPicPr>
          <p:cNvPr id="115" name="Google Shape;115;p4"/>
          <p:cNvPicPr preferRelativeResize="0"/>
          <p:nvPr/>
        </p:nvPicPr>
        <p:blipFill rotWithShape="1">
          <a:blip r:embed="rId3">
            <a:alphaModFix/>
          </a:blip>
          <a:srcRect/>
          <a:stretch/>
        </p:blipFill>
        <p:spPr>
          <a:xfrm>
            <a:off x="0" y="6014458"/>
            <a:ext cx="9144000" cy="84354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solidFill>
                  <a:schemeClr val="dk1"/>
                </a:solidFill>
                <a:latin typeface="Times New Roman"/>
                <a:ea typeface="Times New Roman"/>
                <a:cs typeface="Times New Roman"/>
                <a:sym typeface="Times New Roman"/>
              </a:rPr>
              <a:t>OBSERVATIONS FROM EXISTING METHODOLOGIES </a:t>
            </a:r>
            <a:endParaRPr sz="3600"/>
          </a:p>
        </p:txBody>
      </p:sp>
      <p:sp>
        <p:nvSpPr>
          <p:cNvPr id="129" name="Google Shape;129;p6"/>
          <p:cNvSpPr txBox="1"/>
          <p:nvPr/>
        </p:nvSpPr>
        <p:spPr>
          <a:xfrm>
            <a:off x="3279482" y="2763855"/>
            <a:ext cx="716454" cy="32361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30" name="Google Shape;130;p6"/>
          <p:cNvPicPr preferRelativeResize="0"/>
          <p:nvPr/>
        </p:nvPicPr>
        <p:blipFill rotWithShape="1">
          <a:blip r:embed="rId3">
            <a:alphaModFix/>
          </a:blip>
          <a:srcRect/>
          <a:stretch/>
        </p:blipFill>
        <p:spPr>
          <a:xfrm>
            <a:off x="0" y="6025166"/>
            <a:ext cx="9144000" cy="843542"/>
          </a:xfrm>
          <a:prstGeom prst="rect">
            <a:avLst/>
          </a:prstGeom>
          <a:noFill/>
          <a:ln>
            <a:noFill/>
          </a:ln>
        </p:spPr>
      </p:pic>
      <p:sp>
        <p:nvSpPr>
          <p:cNvPr id="131" name="Google Shape;131;p6"/>
          <p:cNvSpPr txBox="1"/>
          <p:nvPr/>
        </p:nvSpPr>
        <p:spPr>
          <a:xfrm>
            <a:off x="276225" y="1574000"/>
            <a:ext cx="8410500" cy="4000500"/>
          </a:xfrm>
          <a:prstGeom prst="rect">
            <a:avLst/>
          </a:prstGeom>
          <a:noFill/>
          <a:ln>
            <a:noFill/>
          </a:ln>
        </p:spPr>
        <p:txBody>
          <a:bodyPr spcFirstLastPara="1" wrap="square" lIns="91425" tIns="91425" rIns="91425" bIns="91425" anchor="t" anchorCtr="0">
            <a:noAutofit/>
          </a:bodyPr>
          <a:lstStyle/>
          <a:p>
            <a:pPr marL="457200" lvl="0" indent="-374650" algn="just" rtl="0">
              <a:lnSpc>
                <a:spcPct val="100000"/>
              </a:lnSpc>
              <a:spcBef>
                <a:spcPts val="0"/>
              </a:spcBef>
              <a:spcAft>
                <a:spcPts val="0"/>
              </a:spcAft>
              <a:buClr>
                <a:schemeClr val="dk1"/>
              </a:buClr>
              <a:buSzPts val="2300"/>
              <a:buFont typeface="Times New Roman"/>
              <a:buChar char="●"/>
            </a:pPr>
            <a:r>
              <a:rPr lang="en-US" sz="2300" b="1" dirty="0">
                <a:solidFill>
                  <a:schemeClr val="dk1"/>
                </a:solidFill>
                <a:latin typeface="Times New Roman"/>
                <a:ea typeface="Times New Roman"/>
                <a:cs typeface="Times New Roman"/>
                <a:sym typeface="Times New Roman"/>
              </a:rPr>
              <a:t>Hardware-Level Optimization:</a:t>
            </a:r>
            <a:r>
              <a:rPr lang="en-US" sz="2300" dirty="0">
                <a:solidFill>
                  <a:schemeClr val="dk1"/>
                </a:solidFill>
                <a:latin typeface="Times New Roman"/>
                <a:ea typeface="Times New Roman"/>
                <a:cs typeface="Times New Roman"/>
                <a:sym typeface="Times New Roman"/>
              </a:rPr>
              <a:t> We must use custom hardware to solve the inefficiency of general-purpose processors.</a:t>
            </a:r>
            <a:endParaRPr sz="2300" dirty="0">
              <a:solidFill>
                <a:schemeClr val="dk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endParaRPr sz="2300" dirty="0">
              <a:solidFill>
                <a:schemeClr val="dk1"/>
              </a:solidFill>
              <a:latin typeface="Times New Roman"/>
              <a:ea typeface="Times New Roman"/>
              <a:cs typeface="Times New Roman"/>
              <a:sym typeface="Times New Roman"/>
            </a:endParaRPr>
          </a:p>
          <a:p>
            <a:pPr marL="457200" lvl="0" indent="-374650" algn="just" rtl="0">
              <a:lnSpc>
                <a:spcPct val="100000"/>
              </a:lnSpc>
              <a:spcBef>
                <a:spcPts val="0"/>
              </a:spcBef>
              <a:spcAft>
                <a:spcPts val="0"/>
              </a:spcAft>
              <a:buClr>
                <a:schemeClr val="dk1"/>
              </a:buClr>
              <a:buSzPts val="2300"/>
              <a:buFont typeface="Times New Roman"/>
              <a:buChar char="●"/>
            </a:pPr>
            <a:r>
              <a:rPr lang="en-US" sz="2300" b="1" dirty="0">
                <a:solidFill>
                  <a:schemeClr val="dk1"/>
                </a:solidFill>
                <a:latin typeface="Times New Roman"/>
                <a:ea typeface="Times New Roman"/>
                <a:cs typeface="Times New Roman"/>
                <a:sym typeface="Times New Roman"/>
              </a:rPr>
              <a:t>Noise Removal combined with Accelerated Analysis:</a:t>
            </a:r>
            <a:r>
              <a:rPr lang="en-US" sz="2300" dirty="0">
                <a:solidFill>
                  <a:schemeClr val="dk1"/>
                </a:solidFill>
                <a:latin typeface="Times New Roman"/>
                <a:ea typeface="Times New Roman"/>
                <a:cs typeface="Times New Roman"/>
                <a:sym typeface="Times New Roman"/>
              </a:rPr>
              <a:t> A single platform is needed that can both clean the raw signal and then run advanced analysis on it at high speed.</a:t>
            </a:r>
            <a:endParaRPr sz="2300" dirty="0">
              <a:solidFill>
                <a:schemeClr val="dk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endParaRPr sz="2300" dirty="0">
              <a:solidFill>
                <a:schemeClr val="dk1"/>
              </a:solidFill>
              <a:latin typeface="Times New Roman"/>
              <a:ea typeface="Times New Roman"/>
              <a:cs typeface="Times New Roman"/>
              <a:sym typeface="Times New Roman"/>
            </a:endParaRPr>
          </a:p>
          <a:p>
            <a:pPr marL="457200" lvl="0" indent="-374650" algn="just" rtl="0">
              <a:lnSpc>
                <a:spcPct val="100000"/>
              </a:lnSpc>
              <a:spcBef>
                <a:spcPts val="0"/>
              </a:spcBef>
              <a:spcAft>
                <a:spcPts val="0"/>
              </a:spcAft>
              <a:buClr>
                <a:schemeClr val="dk1"/>
              </a:buClr>
              <a:buSzPts val="2300"/>
              <a:buFont typeface="Times New Roman"/>
              <a:buChar char="●"/>
            </a:pPr>
            <a:r>
              <a:rPr lang="en-US" sz="2300" b="1" dirty="0">
                <a:solidFill>
                  <a:schemeClr val="dk1"/>
                </a:solidFill>
                <a:latin typeface="Times New Roman"/>
                <a:ea typeface="Times New Roman"/>
                <a:cs typeface="Times New Roman"/>
                <a:sym typeface="Times New Roman"/>
              </a:rPr>
              <a:t>Full System Integration:</a:t>
            </a:r>
            <a:r>
              <a:rPr lang="en-US" sz="2300" dirty="0">
                <a:solidFill>
                  <a:schemeClr val="dk1"/>
                </a:solidFill>
                <a:latin typeface="Times New Roman"/>
                <a:ea typeface="Times New Roman"/>
                <a:cs typeface="Times New Roman"/>
                <a:sym typeface="Times New Roman"/>
              </a:rPr>
              <a:t> The entire system—including processing, memory, and peripherals—must be integrated on a single chip to reduce latency and power consumption.</a:t>
            </a:r>
            <a:endParaRPr sz="4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853e950286_1_14"/>
          <p:cNvSpPr txBox="1">
            <a:spLocks noGrp="1"/>
          </p:cNvSpPr>
          <p:nvPr>
            <p:ph type="title"/>
          </p:nvPr>
        </p:nvSpPr>
        <p:spPr>
          <a:xfrm flipH="1">
            <a:off x="529117" y="233202"/>
            <a:ext cx="8716200" cy="498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PROPOSED SOLUTION</a:t>
            </a:r>
            <a:endParaRPr/>
          </a:p>
        </p:txBody>
      </p:sp>
      <p:sp>
        <p:nvSpPr>
          <p:cNvPr id="137" name="Google Shape;137;g3853e950286_1_14"/>
          <p:cNvSpPr txBox="1">
            <a:spLocks noGrp="1"/>
          </p:cNvSpPr>
          <p:nvPr>
            <p:ph type="body" idx="1"/>
          </p:nvPr>
        </p:nvSpPr>
        <p:spPr>
          <a:xfrm>
            <a:off x="457200" y="946725"/>
            <a:ext cx="8229600" cy="4525200"/>
          </a:xfrm>
          <a:prstGeom prst="rect">
            <a:avLst/>
          </a:prstGeom>
          <a:noFill/>
          <a:ln>
            <a:noFill/>
          </a:ln>
        </p:spPr>
        <p:txBody>
          <a:bodyPr spcFirstLastPara="1" wrap="square" lIns="91425" tIns="45700" rIns="91425" bIns="45700" anchor="t" anchorCtr="0">
            <a:noAutofit/>
          </a:bodyPr>
          <a:lstStyle/>
          <a:p>
            <a:pPr marL="457200" lvl="0" indent="-355600" algn="just" rtl="0">
              <a:spcBef>
                <a:spcPts val="0"/>
              </a:spcBef>
              <a:spcAft>
                <a:spcPts val="0"/>
              </a:spcAft>
              <a:buSzPts val="2000"/>
              <a:buChar char="●"/>
            </a:pPr>
            <a:r>
              <a:rPr lang="en-US" sz="2000" dirty="0">
                <a:latin typeface="Times New Roman"/>
                <a:ea typeface="Times New Roman"/>
                <a:cs typeface="Times New Roman"/>
                <a:sym typeface="Times New Roman"/>
              </a:rPr>
              <a:t>A custom </a:t>
            </a:r>
            <a:r>
              <a:rPr lang="en-US" sz="2000" b="1" dirty="0">
                <a:latin typeface="Times New Roman"/>
                <a:ea typeface="Times New Roman"/>
                <a:cs typeface="Times New Roman"/>
                <a:sym typeface="Times New Roman"/>
              </a:rPr>
              <a:t>System-on-a-Chip (SoC)</a:t>
            </a:r>
            <a:r>
              <a:rPr lang="en-US" sz="2000" dirty="0">
                <a:latin typeface="Times New Roman"/>
                <a:ea typeface="Times New Roman"/>
                <a:cs typeface="Times New Roman"/>
                <a:sym typeface="Times New Roman"/>
              </a:rPr>
              <a:t> built on a </a:t>
            </a:r>
            <a:r>
              <a:rPr lang="en-US" sz="2000" b="1" dirty="0">
                <a:latin typeface="Times New Roman"/>
                <a:ea typeface="Times New Roman"/>
                <a:cs typeface="Times New Roman"/>
                <a:sym typeface="Times New Roman"/>
              </a:rPr>
              <a:t>heterogeneous multi-core RISC-V architecture</a:t>
            </a:r>
            <a:r>
              <a:rPr lang="en-US" sz="2000" dirty="0">
                <a:latin typeface="Times New Roman"/>
                <a:ea typeface="Times New Roman"/>
                <a:cs typeface="Times New Roman"/>
                <a:sym typeface="Times New Roman"/>
              </a:rPr>
              <a:t>.</a:t>
            </a:r>
            <a:endParaRPr sz="2000" dirty="0">
              <a:latin typeface="Times New Roman"/>
              <a:ea typeface="Times New Roman"/>
              <a:cs typeface="Times New Roman"/>
              <a:sym typeface="Times New Roman"/>
            </a:endParaRPr>
          </a:p>
          <a:p>
            <a:pPr marL="457200" lvl="0" indent="0" algn="just" rtl="0">
              <a:spcBef>
                <a:spcPts val="0"/>
              </a:spcBef>
              <a:spcAft>
                <a:spcPts val="0"/>
              </a:spcAft>
              <a:buNone/>
            </a:pPr>
            <a:endParaRPr sz="2000" dirty="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US" sz="2000" b="1" dirty="0">
                <a:latin typeface="Times New Roman"/>
                <a:ea typeface="Times New Roman"/>
                <a:cs typeface="Times New Roman"/>
                <a:sym typeface="Times New Roman"/>
              </a:rPr>
              <a:t>Dual-Core Design:</a:t>
            </a:r>
            <a:endParaRPr sz="2000" b="1"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sz="2000" b="1" dirty="0">
                <a:latin typeface="Times New Roman"/>
                <a:ea typeface="Times New Roman"/>
                <a:cs typeface="Times New Roman"/>
                <a:sym typeface="Times New Roman"/>
              </a:rPr>
              <a:t>General-Purpose Core:</a:t>
            </a:r>
            <a:r>
              <a:rPr lang="en-US" sz="2000" dirty="0">
                <a:latin typeface="Times New Roman"/>
                <a:ea typeface="Times New Roman"/>
                <a:cs typeface="Times New Roman"/>
                <a:sym typeface="Times New Roman"/>
              </a:rPr>
              <a:t> Manages system control and peripherals.</a:t>
            </a:r>
            <a:endParaRPr sz="2000"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r>
              <a:rPr lang="en-US" sz="2000" b="1" dirty="0">
                <a:latin typeface="Times New Roman"/>
                <a:ea typeface="Times New Roman"/>
                <a:cs typeface="Times New Roman"/>
                <a:sym typeface="Times New Roman"/>
              </a:rPr>
              <a:t>Dedicated DSP Core:</a:t>
            </a:r>
            <a:r>
              <a:rPr lang="en-US" sz="2000" dirty="0">
                <a:latin typeface="Times New Roman"/>
                <a:ea typeface="Times New Roman"/>
                <a:cs typeface="Times New Roman"/>
                <a:sym typeface="Times New Roman"/>
              </a:rPr>
              <a:t> Handles all intensive signal processing tasks.</a:t>
            </a:r>
            <a:endParaRPr sz="2000" dirty="0">
              <a:latin typeface="Times New Roman"/>
              <a:ea typeface="Times New Roman"/>
              <a:cs typeface="Times New Roman"/>
              <a:sym typeface="Times New Roman"/>
            </a:endParaRPr>
          </a:p>
          <a:p>
            <a:pPr marL="457200" lvl="0" indent="-355600" algn="just" rtl="0">
              <a:lnSpc>
                <a:spcPct val="115000"/>
              </a:lnSpc>
              <a:spcBef>
                <a:spcPts val="1200"/>
              </a:spcBef>
              <a:spcAft>
                <a:spcPts val="0"/>
              </a:spcAft>
              <a:buSzPts val="2000"/>
              <a:buFont typeface="Times New Roman"/>
              <a:buChar char="●"/>
            </a:pPr>
            <a:r>
              <a:rPr lang="en-US" sz="2000" b="1" dirty="0">
                <a:latin typeface="Times New Roman"/>
                <a:ea typeface="Times New Roman"/>
                <a:cs typeface="Times New Roman"/>
                <a:sym typeface="Times New Roman"/>
              </a:rPr>
              <a:t>Hardware Acceleration:</a:t>
            </a:r>
            <a:endParaRPr sz="2000" b="1" dirty="0">
              <a:latin typeface="Times New Roman"/>
              <a:ea typeface="Times New Roman"/>
              <a:cs typeface="Times New Roman"/>
              <a:sym typeface="Times New Roman"/>
            </a:endParaRPr>
          </a:p>
          <a:p>
            <a:pPr marL="914400" lvl="1" indent="-355600" algn="just" rtl="0">
              <a:lnSpc>
                <a:spcPct val="115000"/>
              </a:lnSpc>
              <a:spcBef>
                <a:spcPts val="0"/>
              </a:spcBef>
              <a:spcAft>
                <a:spcPts val="0"/>
              </a:spcAft>
              <a:buSzPts val="2000"/>
              <a:buChar char="○"/>
            </a:pPr>
            <a:r>
              <a:rPr lang="en-US" sz="2000" b="1" dirty="0">
                <a:latin typeface="Times New Roman"/>
                <a:ea typeface="Times New Roman"/>
                <a:cs typeface="Times New Roman"/>
                <a:sym typeface="Times New Roman"/>
              </a:rPr>
              <a:t>Custom Instructions:</a:t>
            </a:r>
            <a:r>
              <a:rPr lang="en-US" sz="2000" dirty="0">
                <a:latin typeface="Times New Roman"/>
                <a:ea typeface="Times New Roman"/>
                <a:cs typeface="Times New Roman"/>
                <a:sym typeface="Times New Roman"/>
              </a:rPr>
              <a:t> Our DSP core features a </a:t>
            </a:r>
            <a:r>
              <a:rPr lang="en-US" sz="2000" b="1" dirty="0">
                <a:latin typeface="Times New Roman"/>
                <a:ea typeface="Times New Roman"/>
                <a:cs typeface="Times New Roman"/>
                <a:sym typeface="Times New Roman"/>
              </a:rPr>
              <a:t>Vector Multiply-Accumulate (VMAC)</a:t>
            </a:r>
            <a:r>
              <a:rPr lang="en-US" sz="2000" dirty="0">
                <a:latin typeface="Times New Roman"/>
                <a:ea typeface="Times New Roman"/>
                <a:cs typeface="Times New Roman"/>
                <a:sym typeface="Times New Roman"/>
              </a:rPr>
              <a:t> instruction for ultra-fast filtering.</a:t>
            </a:r>
            <a:endParaRPr sz="2000" dirty="0">
              <a:latin typeface="Times New Roman"/>
              <a:ea typeface="Times New Roman"/>
              <a:cs typeface="Times New Roman"/>
              <a:sym typeface="Times New Roman"/>
            </a:endParaRPr>
          </a:p>
          <a:p>
            <a:pPr marL="914400" lvl="1" indent="-355600" algn="just" rtl="0">
              <a:lnSpc>
                <a:spcPct val="115000"/>
              </a:lnSpc>
              <a:spcBef>
                <a:spcPts val="0"/>
              </a:spcBef>
              <a:spcAft>
                <a:spcPts val="0"/>
              </a:spcAft>
              <a:buSzPts val="2000"/>
              <a:buChar char="○"/>
            </a:pPr>
            <a:r>
              <a:rPr lang="en-US" sz="2000" b="1" dirty="0">
                <a:latin typeface="Times New Roman"/>
                <a:ea typeface="Times New Roman"/>
                <a:cs typeface="Times New Roman"/>
                <a:sym typeface="Times New Roman"/>
              </a:rPr>
              <a:t>Dedicated Accelerators:</a:t>
            </a:r>
            <a:r>
              <a:rPr lang="en-US" sz="2000" dirty="0">
                <a:latin typeface="Times New Roman"/>
                <a:ea typeface="Times New Roman"/>
                <a:cs typeface="Times New Roman"/>
                <a:sym typeface="Times New Roman"/>
              </a:rPr>
              <a:t> A </a:t>
            </a:r>
            <a:r>
              <a:rPr lang="en-US" sz="2000" b="1" dirty="0">
                <a:latin typeface="Times New Roman"/>
                <a:ea typeface="Times New Roman"/>
                <a:cs typeface="Times New Roman"/>
                <a:sym typeface="Times New Roman"/>
              </a:rPr>
              <a:t>DMA controller</a:t>
            </a:r>
            <a:r>
              <a:rPr lang="en-US" sz="2000" dirty="0">
                <a:latin typeface="Times New Roman"/>
                <a:ea typeface="Times New Roman"/>
                <a:cs typeface="Times New Roman"/>
                <a:sym typeface="Times New Roman"/>
              </a:rPr>
              <a:t> automates data transfer, and a specialized </a:t>
            </a:r>
            <a:r>
              <a:rPr lang="en-US" sz="2000" b="1" dirty="0">
                <a:latin typeface="Times New Roman"/>
                <a:ea typeface="Times New Roman"/>
                <a:cs typeface="Times New Roman"/>
                <a:sym typeface="Times New Roman"/>
              </a:rPr>
              <a:t>AI/ML accelerator</a:t>
            </a:r>
            <a:r>
              <a:rPr lang="en-US" sz="2000" dirty="0">
                <a:latin typeface="Times New Roman"/>
                <a:ea typeface="Times New Roman"/>
                <a:cs typeface="Times New Roman"/>
                <a:sym typeface="Times New Roman"/>
              </a:rPr>
              <a:t> handles on-device CNN analysis.</a:t>
            </a:r>
            <a:endParaRPr sz="5100" dirty="0">
              <a:latin typeface="Times New Roman"/>
              <a:ea typeface="Times New Roman"/>
              <a:cs typeface="Times New Roman"/>
              <a:sym typeface="Times New Roman"/>
            </a:endParaRPr>
          </a:p>
          <a:p>
            <a:pPr marL="342900" lvl="0" indent="-139700" algn="just" rtl="0">
              <a:spcBef>
                <a:spcPts val="1200"/>
              </a:spcBef>
              <a:spcAft>
                <a:spcPts val="0"/>
              </a:spcAft>
              <a:buClr>
                <a:schemeClr val="dk1"/>
              </a:buClr>
              <a:buSzPts val="3200"/>
              <a:buFont typeface="Arial"/>
              <a:buNone/>
            </a:pPr>
            <a:endParaRPr dirty="0"/>
          </a:p>
          <a:p>
            <a:pPr marL="0" lvl="0" indent="0" algn="just" rtl="0">
              <a:spcBef>
                <a:spcPts val="640"/>
              </a:spcBef>
              <a:spcAft>
                <a:spcPts val="0"/>
              </a:spcAft>
              <a:buClr>
                <a:schemeClr val="dk1"/>
              </a:buClr>
              <a:buSzPts val="3200"/>
              <a:buFont typeface="Arial"/>
              <a:buNone/>
            </a:pPr>
            <a:endParaRPr dirty="0"/>
          </a:p>
          <a:p>
            <a:pPr marL="342900" lvl="0" indent="-139700" algn="just" rtl="0">
              <a:spcBef>
                <a:spcPts val="640"/>
              </a:spcBef>
              <a:spcAft>
                <a:spcPts val="0"/>
              </a:spcAft>
              <a:buClr>
                <a:schemeClr val="dk1"/>
              </a:buClr>
              <a:buSzPts val="3200"/>
              <a:buFont typeface="Arial"/>
              <a:buNone/>
            </a:pPr>
            <a:endParaRPr dirty="0"/>
          </a:p>
          <a:p>
            <a:pPr marL="342900" lvl="0" indent="-139700" algn="just" rtl="0">
              <a:spcBef>
                <a:spcPts val="640"/>
              </a:spcBef>
              <a:spcAft>
                <a:spcPts val="0"/>
              </a:spcAft>
              <a:buClr>
                <a:schemeClr val="dk1"/>
              </a:buClr>
              <a:buSzPts val="3200"/>
              <a:buFont typeface="Arial"/>
              <a:buNone/>
            </a:pPr>
            <a:endParaRPr dirty="0"/>
          </a:p>
        </p:txBody>
      </p:sp>
      <p:pic>
        <p:nvPicPr>
          <p:cNvPr id="138" name="Google Shape;138;g3853e950286_1_14"/>
          <p:cNvPicPr preferRelativeResize="0"/>
          <p:nvPr/>
        </p:nvPicPr>
        <p:blipFill rotWithShape="1">
          <a:blip r:embed="rId3">
            <a:alphaModFix/>
          </a:blip>
          <a:srcRect/>
          <a:stretch/>
        </p:blipFill>
        <p:spPr>
          <a:xfrm>
            <a:off x="0" y="6014458"/>
            <a:ext cx="9144001" cy="84354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457200" y="-12"/>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400" b="1" dirty="0">
                <a:solidFill>
                  <a:schemeClr val="dk1"/>
                </a:solidFill>
                <a:latin typeface="Times New Roman"/>
                <a:ea typeface="Times New Roman"/>
                <a:cs typeface="Times New Roman"/>
                <a:sym typeface="Times New Roman"/>
              </a:rPr>
              <a:t>FIR FILTER (V-MAC)</a:t>
            </a:r>
            <a:endParaRPr sz="5400" b="1" dirty="0">
              <a:latin typeface="Times New Roman"/>
              <a:ea typeface="Times New Roman"/>
              <a:cs typeface="Times New Roman"/>
              <a:sym typeface="Times New Roman"/>
            </a:endParaRPr>
          </a:p>
        </p:txBody>
      </p:sp>
      <p:pic>
        <p:nvPicPr>
          <p:cNvPr id="144" name="Google Shape;144;p7"/>
          <p:cNvPicPr preferRelativeResize="0"/>
          <p:nvPr/>
        </p:nvPicPr>
        <p:blipFill rotWithShape="1">
          <a:blip r:embed="rId3">
            <a:alphaModFix/>
          </a:blip>
          <a:srcRect/>
          <a:stretch/>
        </p:blipFill>
        <p:spPr>
          <a:xfrm>
            <a:off x="0" y="6025166"/>
            <a:ext cx="9144000" cy="843542"/>
          </a:xfrm>
          <a:prstGeom prst="rect">
            <a:avLst/>
          </a:prstGeom>
          <a:noFill/>
          <a:ln>
            <a:noFill/>
          </a:ln>
        </p:spPr>
      </p:pic>
      <p:sp>
        <p:nvSpPr>
          <p:cNvPr id="145" name="Google Shape;145;p7"/>
          <p:cNvSpPr txBox="1"/>
          <p:nvPr/>
        </p:nvSpPr>
        <p:spPr>
          <a:xfrm>
            <a:off x="457200" y="999925"/>
            <a:ext cx="8521800" cy="4571400"/>
          </a:xfrm>
          <a:prstGeom prst="rect">
            <a:avLst/>
          </a:prstGeom>
          <a:noFill/>
          <a:ln>
            <a:noFill/>
          </a:ln>
        </p:spPr>
        <p:txBody>
          <a:bodyPr spcFirstLastPara="1" wrap="square" lIns="91425" tIns="91425" rIns="91425" bIns="91425" anchor="t" anchorCtr="0">
            <a:noAutofit/>
          </a:bodyPr>
          <a:lstStyle/>
          <a:p>
            <a:pPr marL="457200" lvl="0" indent="-381000" algn="just" rtl="0">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Raw ECG signals are too noisy for accurate analysis. We need to remove noise efficiently.</a:t>
            </a:r>
            <a:endParaRPr sz="24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457200" lvl="0" indent="-381000" algn="just" rtl="0">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We use a </a:t>
            </a:r>
            <a:r>
              <a:rPr lang="en-US" sz="2400" b="1" dirty="0">
                <a:solidFill>
                  <a:schemeClr val="dk1"/>
                </a:solidFill>
                <a:latin typeface="Times New Roman"/>
                <a:ea typeface="Times New Roman"/>
                <a:cs typeface="Times New Roman"/>
                <a:sym typeface="Times New Roman"/>
              </a:rPr>
              <a:t>FIR filter</a:t>
            </a:r>
            <a:r>
              <a:rPr lang="en-US" sz="2400" dirty="0">
                <a:solidFill>
                  <a:schemeClr val="dk1"/>
                </a:solidFill>
                <a:latin typeface="Times New Roman"/>
                <a:ea typeface="Times New Roman"/>
                <a:cs typeface="Times New Roman"/>
                <a:sym typeface="Times New Roman"/>
              </a:rPr>
              <a:t> because it's stable and effective at removing noise.</a:t>
            </a:r>
            <a:endParaRPr sz="24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457200" lvl="0" indent="-381000" algn="just" rtl="0">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 We designed a custom </a:t>
            </a:r>
            <a:r>
              <a:rPr lang="en-US" sz="2400" b="1" dirty="0">
                <a:solidFill>
                  <a:schemeClr val="dk1"/>
                </a:solidFill>
                <a:latin typeface="Times New Roman"/>
                <a:ea typeface="Times New Roman"/>
                <a:cs typeface="Times New Roman"/>
                <a:sym typeface="Times New Roman"/>
              </a:rPr>
              <a:t>V-MAC instruction</a:t>
            </a:r>
            <a:r>
              <a:rPr lang="en-US" sz="2400" dirty="0">
                <a:solidFill>
                  <a:schemeClr val="dk1"/>
                </a:solidFill>
                <a:latin typeface="Times New Roman"/>
                <a:ea typeface="Times New Roman"/>
                <a:cs typeface="Times New Roman"/>
                <a:sym typeface="Times New Roman"/>
              </a:rPr>
              <a:t> for our processor. This instruction is the key to accelerating the FIR filter.</a:t>
            </a:r>
            <a:endParaRPr sz="24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457200" lvl="0" indent="-381000" algn="just" rtl="0">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The V-MAC instruction makes our SoC significantly </a:t>
            </a:r>
            <a:r>
              <a:rPr lang="en-US" sz="2400" b="1" dirty="0">
                <a:solidFill>
                  <a:schemeClr val="dk1"/>
                </a:solidFill>
                <a:latin typeface="Times New Roman"/>
                <a:ea typeface="Times New Roman"/>
                <a:cs typeface="Times New Roman"/>
                <a:sym typeface="Times New Roman"/>
              </a:rPr>
              <a:t>faster</a:t>
            </a:r>
            <a:r>
              <a:rPr lang="en-US" sz="2400" dirty="0">
                <a:solidFill>
                  <a:schemeClr val="dk1"/>
                </a:solidFill>
                <a:latin typeface="Times New Roman"/>
                <a:ea typeface="Times New Roman"/>
                <a:cs typeface="Times New Roman"/>
                <a:sym typeface="Times New Roman"/>
              </a:rPr>
              <a:t> and more </a:t>
            </a:r>
            <a:r>
              <a:rPr lang="en-US" sz="2400" b="1" dirty="0">
                <a:solidFill>
                  <a:schemeClr val="dk1"/>
                </a:solidFill>
                <a:latin typeface="Times New Roman"/>
                <a:ea typeface="Times New Roman"/>
                <a:cs typeface="Times New Roman"/>
                <a:sym typeface="Times New Roman"/>
              </a:rPr>
              <a:t>power-efficient</a:t>
            </a:r>
            <a:r>
              <a:rPr lang="en-US" sz="2400" dirty="0">
                <a:solidFill>
                  <a:schemeClr val="dk1"/>
                </a:solidFill>
                <a:latin typeface="Times New Roman"/>
                <a:ea typeface="Times New Roman"/>
                <a:cs typeface="Times New Roman"/>
                <a:sym typeface="Times New Roman"/>
              </a:rPr>
              <a:t> than a standard processor for this specific task.</a:t>
            </a:r>
            <a:endParaRPr sz="24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3200" dirty="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F8A0FDB6-6B4D-378E-B992-9D3CBE38E7CA}"/>
            </a:ext>
          </a:extLst>
        </p:cNvPr>
        <p:cNvGrpSpPr/>
        <p:nvPr/>
      </p:nvGrpSpPr>
      <p:grpSpPr>
        <a:xfrm>
          <a:off x="0" y="0"/>
          <a:ext cx="0" cy="0"/>
          <a:chOff x="0" y="0"/>
          <a:chExt cx="0" cy="0"/>
        </a:xfrm>
      </p:grpSpPr>
      <p:sp>
        <p:nvSpPr>
          <p:cNvPr id="143" name="Google Shape;143;p7">
            <a:extLst>
              <a:ext uri="{FF2B5EF4-FFF2-40B4-BE49-F238E27FC236}">
                <a16:creationId xmlns:a16="http://schemas.microsoft.com/office/drawing/2014/main" id="{C7F8A403-A7D6-7D23-BD75-2CEA311F5795}"/>
              </a:ext>
            </a:extLst>
          </p:cNvPr>
          <p:cNvSpPr txBox="1">
            <a:spLocks noGrp="1"/>
          </p:cNvSpPr>
          <p:nvPr>
            <p:ph type="title"/>
          </p:nvPr>
        </p:nvSpPr>
        <p:spPr>
          <a:xfrm>
            <a:off x="457200" y="-12"/>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chemeClr val="dk1"/>
                </a:solidFill>
                <a:latin typeface="Times New Roman"/>
                <a:ea typeface="Times New Roman"/>
                <a:cs typeface="Times New Roman"/>
                <a:sym typeface="Times New Roman"/>
              </a:rPr>
              <a:t>FIR FILTER (CUSTOM V-MAC)</a:t>
            </a:r>
            <a:endParaRPr b="1" dirty="0">
              <a:latin typeface="Times New Roman"/>
              <a:ea typeface="Times New Roman"/>
              <a:cs typeface="Times New Roman"/>
              <a:sym typeface="Times New Roman"/>
            </a:endParaRPr>
          </a:p>
        </p:txBody>
      </p:sp>
      <p:pic>
        <p:nvPicPr>
          <p:cNvPr id="144" name="Google Shape;144;p7">
            <a:extLst>
              <a:ext uri="{FF2B5EF4-FFF2-40B4-BE49-F238E27FC236}">
                <a16:creationId xmlns:a16="http://schemas.microsoft.com/office/drawing/2014/main" id="{6715F44F-8CF6-43AC-EA46-5D0105B98217}"/>
              </a:ext>
            </a:extLst>
          </p:cNvPr>
          <p:cNvPicPr preferRelativeResize="0"/>
          <p:nvPr/>
        </p:nvPicPr>
        <p:blipFill rotWithShape="1">
          <a:blip r:embed="rId3">
            <a:alphaModFix/>
          </a:blip>
          <a:srcRect/>
          <a:stretch/>
        </p:blipFill>
        <p:spPr>
          <a:xfrm>
            <a:off x="0" y="6025166"/>
            <a:ext cx="9144000" cy="843542"/>
          </a:xfrm>
          <a:prstGeom prst="rect">
            <a:avLst/>
          </a:prstGeom>
          <a:noFill/>
          <a:ln>
            <a:noFill/>
          </a:ln>
        </p:spPr>
      </p:pic>
      <p:pic>
        <p:nvPicPr>
          <p:cNvPr id="13" name="Picture 12">
            <a:extLst>
              <a:ext uri="{FF2B5EF4-FFF2-40B4-BE49-F238E27FC236}">
                <a16:creationId xmlns:a16="http://schemas.microsoft.com/office/drawing/2014/main" id="{570D8594-B1EE-308D-C3CA-E247F5DA67CC}"/>
              </a:ext>
            </a:extLst>
          </p:cNvPr>
          <p:cNvPicPr>
            <a:picLocks noChangeAspect="1"/>
          </p:cNvPicPr>
          <p:nvPr/>
        </p:nvPicPr>
        <p:blipFill>
          <a:blip r:embed="rId4"/>
          <a:stretch>
            <a:fillRect/>
          </a:stretch>
        </p:blipFill>
        <p:spPr>
          <a:xfrm>
            <a:off x="312051" y="972666"/>
            <a:ext cx="5204829" cy="2847494"/>
          </a:xfrm>
          <a:prstGeom prst="rect">
            <a:avLst/>
          </a:prstGeom>
        </p:spPr>
      </p:pic>
      <p:pic>
        <p:nvPicPr>
          <p:cNvPr id="14" name="Picture 13">
            <a:extLst>
              <a:ext uri="{FF2B5EF4-FFF2-40B4-BE49-F238E27FC236}">
                <a16:creationId xmlns:a16="http://schemas.microsoft.com/office/drawing/2014/main" id="{8924E61E-F5D0-8AC5-E130-7096435B34BB}"/>
              </a:ext>
            </a:extLst>
          </p:cNvPr>
          <p:cNvPicPr>
            <a:picLocks noChangeAspect="1"/>
          </p:cNvPicPr>
          <p:nvPr/>
        </p:nvPicPr>
        <p:blipFill>
          <a:blip r:embed="rId5"/>
          <a:stretch>
            <a:fillRect/>
          </a:stretch>
        </p:blipFill>
        <p:spPr>
          <a:xfrm>
            <a:off x="430129" y="3790995"/>
            <a:ext cx="4968671" cy="2263336"/>
          </a:xfrm>
          <a:prstGeom prst="rect">
            <a:avLst/>
          </a:prstGeom>
        </p:spPr>
      </p:pic>
      <p:sp>
        <p:nvSpPr>
          <p:cNvPr id="15" name="TextBox 14">
            <a:extLst>
              <a:ext uri="{FF2B5EF4-FFF2-40B4-BE49-F238E27FC236}">
                <a16:creationId xmlns:a16="http://schemas.microsoft.com/office/drawing/2014/main" id="{8C8C1674-CF46-8BD2-9A28-7B5E8EC33966}"/>
              </a:ext>
            </a:extLst>
          </p:cNvPr>
          <p:cNvSpPr txBox="1"/>
          <p:nvPr/>
        </p:nvSpPr>
        <p:spPr>
          <a:xfrm>
            <a:off x="5634958" y="1110035"/>
            <a:ext cx="2401602" cy="523220"/>
          </a:xfrm>
          <a:prstGeom prst="rect">
            <a:avLst/>
          </a:prstGeom>
          <a:noFill/>
        </p:spPr>
        <p:txBody>
          <a:bodyPr wrap="square" rtlCol="0">
            <a:spAutoFit/>
          </a:bodyPr>
          <a:lstStyle/>
          <a:p>
            <a:r>
              <a:rPr lang="en-US" b="1" dirty="0"/>
              <a:t>MAC INSTRUCTION:</a:t>
            </a:r>
          </a:p>
          <a:p>
            <a:r>
              <a:rPr lang="en-US" b="1" dirty="0"/>
              <a:t>[7 Clock Cycles Needed]</a:t>
            </a:r>
            <a:endParaRPr lang="en-IN" b="1" dirty="0"/>
          </a:p>
        </p:txBody>
      </p:sp>
      <p:pic>
        <p:nvPicPr>
          <p:cNvPr id="16" name="Picture 15">
            <a:extLst>
              <a:ext uri="{FF2B5EF4-FFF2-40B4-BE49-F238E27FC236}">
                <a16:creationId xmlns:a16="http://schemas.microsoft.com/office/drawing/2014/main" id="{A0F2B55A-446A-0509-4822-683823EF1BDB}"/>
              </a:ext>
            </a:extLst>
          </p:cNvPr>
          <p:cNvPicPr>
            <a:picLocks noChangeAspect="1"/>
          </p:cNvPicPr>
          <p:nvPr/>
        </p:nvPicPr>
        <p:blipFill>
          <a:blip r:embed="rId6"/>
          <a:stretch>
            <a:fillRect/>
          </a:stretch>
        </p:blipFill>
        <p:spPr>
          <a:xfrm>
            <a:off x="5634958" y="1798532"/>
            <a:ext cx="2677040" cy="911544"/>
          </a:xfrm>
          <a:prstGeom prst="rect">
            <a:avLst/>
          </a:prstGeom>
        </p:spPr>
      </p:pic>
      <p:sp>
        <p:nvSpPr>
          <p:cNvPr id="17" name="TextBox 16">
            <a:extLst>
              <a:ext uri="{FF2B5EF4-FFF2-40B4-BE49-F238E27FC236}">
                <a16:creationId xmlns:a16="http://schemas.microsoft.com/office/drawing/2014/main" id="{AB91C336-1F02-2A7D-56E2-7116639C8325}"/>
              </a:ext>
            </a:extLst>
          </p:cNvPr>
          <p:cNvSpPr txBox="1"/>
          <p:nvPr/>
        </p:nvSpPr>
        <p:spPr>
          <a:xfrm>
            <a:off x="5628516" y="3690610"/>
            <a:ext cx="2929922" cy="523220"/>
          </a:xfrm>
          <a:prstGeom prst="rect">
            <a:avLst/>
          </a:prstGeom>
          <a:noFill/>
        </p:spPr>
        <p:txBody>
          <a:bodyPr wrap="square" rtlCol="0">
            <a:spAutoFit/>
          </a:bodyPr>
          <a:lstStyle/>
          <a:p>
            <a:r>
              <a:rPr lang="en-US" b="1" dirty="0"/>
              <a:t>V-MAC INSTRUCTION:</a:t>
            </a:r>
          </a:p>
          <a:p>
            <a:r>
              <a:rPr lang="en-US" b="1" dirty="0"/>
              <a:t>[1 Clock Cycles Needed]</a:t>
            </a:r>
            <a:endParaRPr lang="en-IN" b="1" dirty="0"/>
          </a:p>
        </p:txBody>
      </p:sp>
      <p:pic>
        <p:nvPicPr>
          <p:cNvPr id="18" name="Picture 17">
            <a:extLst>
              <a:ext uri="{FF2B5EF4-FFF2-40B4-BE49-F238E27FC236}">
                <a16:creationId xmlns:a16="http://schemas.microsoft.com/office/drawing/2014/main" id="{76DA3FD3-49D6-1E8B-F2A0-022DBB80D8DA}"/>
              </a:ext>
            </a:extLst>
          </p:cNvPr>
          <p:cNvPicPr>
            <a:picLocks noChangeAspect="1"/>
          </p:cNvPicPr>
          <p:nvPr/>
        </p:nvPicPr>
        <p:blipFill>
          <a:blip r:embed="rId7"/>
          <a:stretch>
            <a:fillRect/>
          </a:stretch>
        </p:blipFill>
        <p:spPr>
          <a:xfrm>
            <a:off x="5628516" y="4402116"/>
            <a:ext cx="3171484" cy="911544"/>
          </a:xfrm>
          <a:prstGeom prst="rect">
            <a:avLst/>
          </a:prstGeom>
        </p:spPr>
      </p:pic>
    </p:spTree>
    <p:extLst>
      <p:ext uri="{BB962C8B-B14F-4D97-AF65-F5344CB8AC3E}">
        <p14:creationId xmlns:p14="http://schemas.microsoft.com/office/powerpoint/2010/main" val="2635949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3853e950286_1_40"/>
          <p:cNvSpPr txBox="1">
            <a:spLocks noGrp="1"/>
          </p:cNvSpPr>
          <p:nvPr>
            <p:ph type="title"/>
          </p:nvPr>
        </p:nvSpPr>
        <p:spPr>
          <a:xfrm>
            <a:off x="457200" y="175375"/>
            <a:ext cx="8229600" cy="788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400" b="1">
                <a:solidFill>
                  <a:schemeClr val="dk1"/>
                </a:solidFill>
                <a:latin typeface="Times New Roman"/>
                <a:ea typeface="Times New Roman"/>
                <a:cs typeface="Times New Roman"/>
                <a:sym typeface="Times New Roman"/>
              </a:rPr>
              <a:t>FAST FOURIER TRANSFORM (FFT)</a:t>
            </a:r>
            <a:endParaRPr sz="5400" b="1">
              <a:latin typeface="Times New Roman"/>
              <a:ea typeface="Times New Roman"/>
              <a:cs typeface="Times New Roman"/>
              <a:sym typeface="Times New Roman"/>
            </a:endParaRPr>
          </a:p>
        </p:txBody>
      </p:sp>
      <p:pic>
        <p:nvPicPr>
          <p:cNvPr id="151" name="Google Shape;151;g3853e950286_1_40"/>
          <p:cNvPicPr preferRelativeResize="0"/>
          <p:nvPr/>
        </p:nvPicPr>
        <p:blipFill rotWithShape="1">
          <a:blip r:embed="rId3">
            <a:alphaModFix/>
          </a:blip>
          <a:srcRect/>
          <a:stretch/>
        </p:blipFill>
        <p:spPr>
          <a:xfrm>
            <a:off x="0" y="6025166"/>
            <a:ext cx="9144001" cy="843542"/>
          </a:xfrm>
          <a:prstGeom prst="rect">
            <a:avLst/>
          </a:prstGeom>
          <a:noFill/>
          <a:ln>
            <a:noFill/>
          </a:ln>
        </p:spPr>
      </p:pic>
      <p:sp>
        <p:nvSpPr>
          <p:cNvPr id="152" name="Google Shape;152;g3853e950286_1_40"/>
          <p:cNvSpPr txBox="1"/>
          <p:nvPr/>
        </p:nvSpPr>
        <p:spPr>
          <a:xfrm>
            <a:off x="457200" y="1124150"/>
            <a:ext cx="8521800" cy="4267200"/>
          </a:xfrm>
          <a:prstGeom prst="rect">
            <a:avLst/>
          </a:prstGeom>
          <a:noFill/>
          <a:ln>
            <a:noFill/>
          </a:ln>
        </p:spPr>
        <p:txBody>
          <a:bodyPr spcFirstLastPara="1" wrap="square" lIns="91425" tIns="91425" rIns="91425" bIns="91425" anchor="t" anchorCtr="0">
            <a:noAutofit/>
          </a:bodyPr>
          <a:lstStyle/>
          <a:p>
            <a:pPr marL="457200" lvl="0" indent="-381000" algn="just" rtl="0">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 ECG signals contain hidden noise frequencies that are hard to remove with simple filtering.</a:t>
            </a:r>
            <a:endParaRPr sz="24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457200" lvl="0" indent="-381000" algn="just" rtl="0">
              <a:spcBef>
                <a:spcPts val="0"/>
              </a:spcBef>
              <a:spcAft>
                <a:spcPts val="0"/>
              </a:spcAft>
              <a:buClr>
                <a:schemeClr val="dk1"/>
              </a:buClr>
              <a:buSzPts val="2400"/>
              <a:buFont typeface="Times New Roman"/>
              <a:buChar char="●"/>
            </a:pPr>
            <a:r>
              <a:rPr lang="en-US" sz="2400" dirty="0">
                <a:solidFill>
                  <a:schemeClr val="dk1"/>
                </a:solidFill>
              </a:rPr>
              <a:t>We use </a:t>
            </a:r>
            <a:r>
              <a:rPr lang="en-US" sz="2400" b="1" dirty="0">
                <a:solidFill>
                  <a:schemeClr val="dk1"/>
                </a:solidFill>
              </a:rPr>
              <a:t>FFT</a:t>
            </a:r>
            <a:r>
              <a:rPr lang="en-US" sz="2400" dirty="0">
                <a:solidFill>
                  <a:schemeClr val="dk1"/>
                </a:solidFill>
              </a:rPr>
              <a:t> to analyze the signal's frequency content and precisely locate noise.</a:t>
            </a:r>
            <a:endParaRPr sz="2400" dirty="0">
              <a:solidFill>
                <a:schemeClr val="dk1"/>
              </a:solidFill>
            </a:endParaRPr>
          </a:p>
          <a:p>
            <a:pPr marL="457200" lvl="0" indent="0" algn="just" rtl="0">
              <a:spcBef>
                <a:spcPts val="0"/>
              </a:spcBef>
              <a:spcAft>
                <a:spcPts val="0"/>
              </a:spcAft>
              <a:buNone/>
            </a:pPr>
            <a:endParaRPr sz="2400" dirty="0">
              <a:solidFill>
                <a:schemeClr val="dk1"/>
              </a:solidFill>
            </a:endParaRPr>
          </a:p>
          <a:p>
            <a:pPr marL="457200" lvl="0" indent="-381000" algn="just" rtl="0">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 We designed a </a:t>
            </a:r>
            <a:r>
              <a:rPr lang="en-US" sz="2400" b="1" dirty="0">
                <a:solidFill>
                  <a:schemeClr val="dk1"/>
                </a:solidFill>
                <a:latin typeface="Times New Roman"/>
                <a:ea typeface="Times New Roman"/>
                <a:cs typeface="Times New Roman"/>
                <a:sym typeface="Times New Roman"/>
              </a:rPr>
              <a:t>custom Bit-Reversal instruction</a:t>
            </a:r>
            <a:r>
              <a:rPr lang="en-US" sz="2400" dirty="0">
                <a:solidFill>
                  <a:schemeClr val="dk1"/>
                </a:solidFill>
                <a:latin typeface="Times New Roman"/>
                <a:ea typeface="Times New Roman"/>
                <a:cs typeface="Times New Roman"/>
                <a:sym typeface="Times New Roman"/>
              </a:rPr>
              <a:t> to accelerate the FFT algorithm.</a:t>
            </a:r>
            <a:endParaRPr sz="24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457200" lvl="0" indent="-381000" algn="just" rtl="0">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Our SoC can perform frequency analysis and prepare data for AI with greater </a:t>
            </a:r>
            <a:r>
              <a:rPr lang="en-US" sz="2400" b="1" dirty="0">
                <a:solidFill>
                  <a:schemeClr val="dk1"/>
                </a:solidFill>
                <a:latin typeface="Times New Roman"/>
                <a:ea typeface="Times New Roman"/>
                <a:cs typeface="Times New Roman"/>
                <a:sym typeface="Times New Roman"/>
              </a:rPr>
              <a:t>speed</a:t>
            </a:r>
            <a:r>
              <a:rPr lang="en-US" sz="2400" dirty="0">
                <a:solidFill>
                  <a:schemeClr val="dk1"/>
                </a:solidFill>
                <a:latin typeface="Times New Roman"/>
                <a:ea typeface="Times New Roman"/>
                <a:cs typeface="Times New Roman"/>
                <a:sym typeface="Times New Roman"/>
              </a:rPr>
              <a:t> and </a:t>
            </a:r>
            <a:r>
              <a:rPr lang="en-US" sz="2400" b="1" dirty="0">
                <a:solidFill>
                  <a:schemeClr val="dk1"/>
                </a:solidFill>
                <a:latin typeface="Times New Roman"/>
                <a:ea typeface="Times New Roman"/>
                <a:cs typeface="Times New Roman"/>
                <a:sym typeface="Times New Roman"/>
              </a:rPr>
              <a:t>efficiency</a:t>
            </a:r>
            <a:r>
              <a:rPr lang="en-US" sz="2400" dirty="0">
                <a:solidFill>
                  <a:schemeClr val="dk1"/>
                </a:solidFill>
                <a:latin typeface="Times New Roman"/>
                <a:ea typeface="Times New Roman"/>
                <a:cs typeface="Times New Roman"/>
                <a:sym typeface="Times New Roman"/>
              </a:rPr>
              <a:t> than a standard processor.</a:t>
            </a:r>
            <a:endParaRPr sz="24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3200"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457200" y="274638"/>
            <a:ext cx="8229600" cy="41805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ea typeface="Times New Roman"/>
                <a:cs typeface="Times New Roman"/>
                <a:sym typeface="Times New Roman"/>
              </a:rPr>
              <a:t>HARDWARE ACCELERATOR(CNN)</a:t>
            </a:r>
            <a:endParaRPr dirty="0"/>
          </a:p>
        </p:txBody>
      </p:sp>
      <p:pic>
        <p:nvPicPr>
          <p:cNvPr id="158" name="Google Shape;158;p8"/>
          <p:cNvPicPr preferRelativeResize="0"/>
          <p:nvPr/>
        </p:nvPicPr>
        <p:blipFill rotWithShape="1">
          <a:blip r:embed="rId3">
            <a:alphaModFix/>
          </a:blip>
          <a:srcRect/>
          <a:stretch/>
        </p:blipFill>
        <p:spPr>
          <a:xfrm>
            <a:off x="0" y="6014458"/>
            <a:ext cx="9144000" cy="1014942"/>
          </a:xfrm>
          <a:prstGeom prst="rect">
            <a:avLst/>
          </a:prstGeom>
          <a:noFill/>
          <a:ln>
            <a:noFill/>
          </a:ln>
        </p:spPr>
      </p:pic>
      <p:sp>
        <p:nvSpPr>
          <p:cNvPr id="159" name="Google Shape;159;p8"/>
          <p:cNvSpPr txBox="1"/>
          <p:nvPr/>
        </p:nvSpPr>
        <p:spPr>
          <a:xfrm>
            <a:off x="569200" y="1298650"/>
            <a:ext cx="8305800" cy="426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endParaRPr>
          </a:p>
        </p:txBody>
      </p:sp>
      <p:sp>
        <p:nvSpPr>
          <p:cNvPr id="160" name="Google Shape;160;p8"/>
          <p:cNvSpPr txBox="1"/>
          <p:nvPr/>
        </p:nvSpPr>
        <p:spPr>
          <a:xfrm>
            <a:off x="224700" y="1072650"/>
            <a:ext cx="8462100" cy="4368600"/>
          </a:xfrm>
          <a:prstGeom prst="rect">
            <a:avLst/>
          </a:prstGeom>
          <a:noFill/>
          <a:ln>
            <a:noFill/>
          </a:ln>
        </p:spPr>
        <p:txBody>
          <a:bodyPr spcFirstLastPara="1" wrap="square" lIns="91425" tIns="91425" rIns="91425" bIns="91425" anchor="t" anchorCtr="0">
            <a:noAutofit/>
          </a:bodyPr>
          <a:lstStyle/>
          <a:p>
            <a:pPr marL="457200" lvl="0" indent="-374650" algn="just" rtl="0">
              <a:spcBef>
                <a:spcPts val="0"/>
              </a:spcBef>
              <a:spcAft>
                <a:spcPts val="0"/>
              </a:spcAft>
              <a:buClr>
                <a:schemeClr val="dk1"/>
              </a:buClr>
              <a:buSzPts val="2300"/>
              <a:buFont typeface="Times New Roman"/>
              <a:buChar char="●"/>
            </a:pPr>
            <a:r>
              <a:rPr lang="en-US" sz="2300" dirty="0">
                <a:solidFill>
                  <a:schemeClr val="dk1"/>
                </a:solidFill>
                <a:latin typeface="Times New Roman"/>
                <a:ea typeface="Times New Roman"/>
                <a:cs typeface="Times New Roman"/>
                <a:sym typeface="Times New Roman"/>
              </a:rPr>
              <a:t>It performs automated diagnosis by running a pre-trained </a:t>
            </a:r>
            <a:r>
              <a:rPr lang="en-US" sz="2300" b="1" dirty="0">
                <a:solidFill>
                  <a:schemeClr val="dk1"/>
                </a:solidFill>
                <a:latin typeface="Times New Roman"/>
                <a:ea typeface="Times New Roman"/>
                <a:cs typeface="Times New Roman"/>
                <a:sym typeface="Times New Roman"/>
              </a:rPr>
              <a:t>CNN</a:t>
            </a:r>
            <a:r>
              <a:rPr lang="en-US" sz="2300" dirty="0">
                <a:solidFill>
                  <a:schemeClr val="dk1"/>
                </a:solidFill>
                <a:latin typeface="Times New Roman"/>
                <a:ea typeface="Times New Roman"/>
                <a:cs typeface="Times New Roman"/>
                <a:sym typeface="Times New Roman"/>
              </a:rPr>
              <a:t> model on the data.</a:t>
            </a:r>
            <a:endParaRPr sz="23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300" dirty="0">
              <a:solidFill>
                <a:schemeClr val="dk1"/>
              </a:solidFill>
              <a:latin typeface="Times New Roman"/>
              <a:ea typeface="Times New Roman"/>
              <a:cs typeface="Times New Roman"/>
              <a:sym typeface="Times New Roman"/>
            </a:endParaRPr>
          </a:p>
          <a:p>
            <a:pPr marL="457200" lvl="0" indent="-374650" algn="just" rtl="0">
              <a:spcBef>
                <a:spcPts val="0"/>
              </a:spcBef>
              <a:spcAft>
                <a:spcPts val="0"/>
              </a:spcAft>
              <a:buClr>
                <a:schemeClr val="dk1"/>
              </a:buClr>
              <a:buSzPts val="2300"/>
              <a:buFont typeface="Times New Roman"/>
              <a:buChar char="●"/>
            </a:pPr>
            <a:r>
              <a:rPr lang="en-US" sz="2300" dirty="0">
                <a:solidFill>
                  <a:schemeClr val="dk1"/>
                </a:solidFill>
                <a:latin typeface="Times New Roman"/>
                <a:ea typeface="Times New Roman"/>
                <a:cs typeface="Times New Roman"/>
                <a:sym typeface="Times New Roman"/>
              </a:rPr>
              <a:t>It accelerates the core mathematical computations of the </a:t>
            </a:r>
            <a:r>
              <a:rPr lang="en-US" sz="2300" b="1" dirty="0">
                <a:solidFill>
                  <a:schemeClr val="dk1"/>
                </a:solidFill>
                <a:latin typeface="Times New Roman"/>
                <a:ea typeface="Times New Roman"/>
                <a:cs typeface="Times New Roman"/>
                <a:sym typeface="Times New Roman"/>
              </a:rPr>
              <a:t>CNN</a:t>
            </a:r>
            <a:r>
              <a:rPr lang="en-US" sz="2300" dirty="0">
                <a:solidFill>
                  <a:schemeClr val="dk1"/>
                </a:solidFill>
                <a:latin typeface="Times New Roman"/>
                <a:ea typeface="Times New Roman"/>
                <a:cs typeface="Times New Roman"/>
                <a:sym typeface="Times New Roman"/>
              </a:rPr>
              <a:t>, such as convolutions, far more efficiently than a CPU.</a:t>
            </a:r>
            <a:endParaRPr sz="23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300" dirty="0">
              <a:solidFill>
                <a:schemeClr val="dk1"/>
              </a:solidFill>
              <a:latin typeface="Times New Roman"/>
              <a:ea typeface="Times New Roman"/>
              <a:cs typeface="Times New Roman"/>
              <a:sym typeface="Times New Roman"/>
            </a:endParaRPr>
          </a:p>
          <a:p>
            <a:pPr marL="457200" lvl="0" indent="-374650" algn="just" rtl="0">
              <a:spcBef>
                <a:spcPts val="0"/>
              </a:spcBef>
              <a:spcAft>
                <a:spcPts val="0"/>
              </a:spcAft>
              <a:buClr>
                <a:schemeClr val="dk1"/>
              </a:buClr>
              <a:buSzPts val="2300"/>
              <a:buFont typeface="Times New Roman"/>
              <a:buChar char="●"/>
            </a:pPr>
            <a:r>
              <a:rPr lang="en-US" sz="2300" dirty="0">
                <a:solidFill>
                  <a:schemeClr val="dk1"/>
                </a:solidFill>
                <a:latin typeface="Times New Roman"/>
                <a:ea typeface="Times New Roman"/>
                <a:cs typeface="Times New Roman"/>
                <a:sym typeface="Times New Roman"/>
              </a:rPr>
              <a:t>It enables </a:t>
            </a:r>
            <a:r>
              <a:rPr lang="en-US" sz="2300" b="1" dirty="0">
                <a:solidFill>
                  <a:schemeClr val="dk1"/>
                </a:solidFill>
                <a:latin typeface="Times New Roman"/>
                <a:ea typeface="Times New Roman"/>
                <a:cs typeface="Times New Roman"/>
                <a:sym typeface="Times New Roman"/>
              </a:rPr>
              <a:t>on-device intelligence</a:t>
            </a:r>
            <a:r>
              <a:rPr lang="en-US" sz="2300" dirty="0">
                <a:solidFill>
                  <a:schemeClr val="dk1"/>
                </a:solidFill>
                <a:latin typeface="Times New Roman"/>
                <a:ea typeface="Times New Roman"/>
                <a:cs typeface="Times New Roman"/>
                <a:sym typeface="Times New Roman"/>
              </a:rPr>
              <a:t>, allowing the system to make a diagnosis in real time without a network connection.</a:t>
            </a:r>
            <a:endParaRPr sz="23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2300" dirty="0">
              <a:solidFill>
                <a:schemeClr val="dk1"/>
              </a:solidFill>
              <a:latin typeface="Times New Roman"/>
              <a:ea typeface="Times New Roman"/>
              <a:cs typeface="Times New Roman"/>
              <a:sym typeface="Times New Roman"/>
            </a:endParaRPr>
          </a:p>
          <a:p>
            <a:pPr marL="457200" lvl="0" indent="-374650" algn="just" rtl="0">
              <a:spcBef>
                <a:spcPts val="0"/>
              </a:spcBef>
              <a:spcAft>
                <a:spcPts val="0"/>
              </a:spcAft>
              <a:buClr>
                <a:schemeClr val="dk1"/>
              </a:buClr>
              <a:buSzPts val="2300"/>
              <a:buFont typeface="Times New Roman"/>
              <a:buChar char="●"/>
            </a:pPr>
            <a:r>
              <a:rPr lang="en-US" sz="2300" dirty="0">
                <a:solidFill>
                  <a:schemeClr val="dk1"/>
                </a:solidFill>
                <a:latin typeface="Times New Roman"/>
                <a:ea typeface="Times New Roman"/>
                <a:cs typeface="Times New Roman"/>
                <a:sym typeface="Times New Roman"/>
              </a:rPr>
              <a:t>It ensures </a:t>
            </a:r>
            <a:r>
              <a:rPr lang="en-US" sz="2300" b="1" dirty="0">
                <a:solidFill>
                  <a:schemeClr val="dk1"/>
                </a:solidFill>
                <a:latin typeface="Times New Roman"/>
                <a:ea typeface="Times New Roman"/>
                <a:cs typeface="Times New Roman"/>
                <a:sym typeface="Times New Roman"/>
              </a:rPr>
              <a:t>data privacy and security</a:t>
            </a:r>
            <a:r>
              <a:rPr lang="en-US" sz="2300" dirty="0">
                <a:solidFill>
                  <a:schemeClr val="dk1"/>
                </a:solidFill>
                <a:latin typeface="Times New Roman"/>
                <a:ea typeface="Times New Roman"/>
                <a:cs typeface="Times New Roman"/>
                <a:sym typeface="Times New Roman"/>
              </a:rPr>
              <a:t> by processing all sensitive information locally on the chip.</a:t>
            </a:r>
            <a:endParaRPr sz="4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txBox="1"/>
          <p:nvPr/>
        </p:nvSpPr>
        <p:spPr>
          <a:xfrm>
            <a:off x="281600" y="286500"/>
            <a:ext cx="86553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dk1"/>
                </a:solidFill>
                <a:latin typeface="Times New Roman"/>
                <a:ea typeface="Times New Roman"/>
                <a:cs typeface="Times New Roman"/>
                <a:sym typeface="Times New Roman"/>
              </a:rPr>
              <a:t>HETEROGENEOUS MULTI-CORE</a:t>
            </a:r>
            <a:endParaRPr sz="3600"/>
          </a:p>
        </p:txBody>
      </p:sp>
      <p:pic>
        <p:nvPicPr>
          <p:cNvPr id="166" name="Google Shape;166;p9"/>
          <p:cNvPicPr preferRelativeResize="0"/>
          <p:nvPr/>
        </p:nvPicPr>
        <p:blipFill rotWithShape="1">
          <a:blip r:embed="rId3">
            <a:alphaModFix/>
          </a:blip>
          <a:srcRect/>
          <a:stretch/>
        </p:blipFill>
        <p:spPr>
          <a:xfrm>
            <a:off x="0" y="6025166"/>
            <a:ext cx="9144000" cy="843542"/>
          </a:xfrm>
          <a:prstGeom prst="rect">
            <a:avLst/>
          </a:prstGeom>
          <a:noFill/>
          <a:ln>
            <a:noFill/>
          </a:ln>
        </p:spPr>
      </p:pic>
      <p:pic>
        <p:nvPicPr>
          <p:cNvPr id="167" name="Google Shape;167;p9" title="multi-core-hardware-accelerator.png"/>
          <p:cNvPicPr preferRelativeResize="0"/>
          <p:nvPr/>
        </p:nvPicPr>
        <p:blipFill>
          <a:blip r:embed="rId4">
            <a:alphaModFix/>
          </a:blip>
          <a:stretch>
            <a:fillRect/>
          </a:stretch>
        </p:blipFill>
        <p:spPr>
          <a:xfrm>
            <a:off x="152400" y="932999"/>
            <a:ext cx="4601824" cy="4788425"/>
          </a:xfrm>
          <a:prstGeom prst="rect">
            <a:avLst/>
          </a:prstGeom>
          <a:noFill/>
          <a:ln>
            <a:noFill/>
          </a:ln>
        </p:spPr>
      </p:pic>
      <p:sp>
        <p:nvSpPr>
          <p:cNvPr id="168" name="Google Shape;168;p9"/>
          <p:cNvSpPr txBox="1"/>
          <p:nvPr/>
        </p:nvSpPr>
        <p:spPr>
          <a:xfrm>
            <a:off x="4933675" y="962025"/>
            <a:ext cx="4084800" cy="473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The heterogeneous multi-core architecture is designed to divide labor between two specialized cores.</a:t>
            </a:r>
            <a:endParaRPr sz="20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 </a:t>
            </a:r>
            <a:endParaRPr sz="2000" dirty="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US" sz="2000" b="1" dirty="0">
                <a:solidFill>
                  <a:schemeClr val="dk1"/>
                </a:solidFill>
                <a:latin typeface="Times New Roman"/>
                <a:ea typeface="Times New Roman"/>
                <a:cs typeface="Times New Roman"/>
                <a:sym typeface="Times New Roman"/>
              </a:rPr>
              <a:t>General-Purpose Core</a:t>
            </a:r>
            <a:r>
              <a:rPr lang="en-US" sz="2000" dirty="0">
                <a:solidFill>
                  <a:schemeClr val="dk1"/>
                </a:solidFill>
                <a:latin typeface="Times New Roman"/>
                <a:ea typeface="Times New Roman"/>
                <a:cs typeface="Times New Roman"/>
                <a:sym typeface="Times New Roman"/>
              </a:rPr>
              <a:t>: Manages all high-level system control and peripherals.</a:t>
            </a:r>
            <a:endParaRPr sz="2000" dirty="0">
              <a:solidFill>
                <a:schemeClr val="dk1"/>
              </a:solidFill>
              <a:latin typeface="Times New Roman"/>
              <a:ea typeface="Times New Roman"/>
              <a:cs typeface="Times New Roman"/>
              <a:sym typeface="Times New Roman"/>
            </a:endParaRPr>
          </a:p>
          <a:p>
            <a:pPr marL="91440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US" sz="2000" b="1" dirty="0">
                <a:solidFill>
                  <a:schemeClr val="dk1"/>
                </a:solidFill>
                <a:latin typeface="Times New Roman"/>
                <a:ea typeface="Times New Roman"/>
                <a:cs typeface="Times New Roman"/>
                <a:sym typeface="Times New Roman"/>
              </a:rPr>
              <a:t>DSP Core</a:t>
            </a:r>
            <a:r>
              <a:rPr lang="en-US" sz="2000" dirty="0">
                <a:solidFill>
                  <a:schemeClr val="dk1"/>
                </a:solidFill>
                <a:latin typeface="Times New Roman"/>
                <a:ea typeface="Times New Roman"/>
                <a:cs typeface="Times New Roman"/>
                <a:sym typeface="Times New Roman"/>
              </a:rPr>
              <a:t>: Handles the intensive signal processing and data analysis tasks.</a:t>
            </a:r>
            <a:endParaRPr sz="2000" dirty="0">
              <a:solidFill>
                <a:schemeClr val="dk1"/>
              </a:solidFill>
              <a:latin typeface="Times New Roman"/>
              <a:ea typeface="Times New Roman"/>
              <a:cs typeface="Times New Roman"/>
              <a:sym typeface="Times New Roman"/>
            </a:endParaRPr>
          </a:p>
          <a:p>
            <a:pPr marL="91440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This division ensures that the system is both highly responsive and extremely efficient at its core functions.</a:t>
            </a: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A5087F53-87FC-D7F6-8471-DD637D2C4211}"/>
            </a:ext>
          </a:extLst>
        </p:cNvPr>
        <p:cNvGrpSpPr/>
        <p:nvPr/>
      </p:nvGrpSpPr>
      <p:grpSpPr>
        <a:xfrm>
          <a:off x="0" y="0"/>
          <a:ext cx="0" cy="0"/>
          <a:chOff x="0" y="0"/>
          <a:chExt cx="0" cy="0"/>
        </a:xfrm>
      </p:grpSpPr>
      <p:sp>
        <p:nvSpPr>
          <p:cNvPr id="173" name="Google Shape;173;p10">
            <a:extLst>
              <a:ext uri="{FF2B5EF4-FFF2-40B4-BE49-F238E27FC236}">
                <a16:creationId xmlns:a16="http://schemas.microsoft.com/office/drawing/2014/main" id="{BC23BAEF-0209-5EE9-D0FD-246C7F7793A2}"/>
              </a:ext>
            </a:extLst>
          </p:cNvPr>
          <p:cNvSpPr txBox="1">
            <a:spLocks noGrp="1"/>
          </p:cNvSpPr>
          <p:nvPr>
            <p:ph type="title"/>
          </p:nvPr>
        </p:nvSpPr>
        <p:spPr>
          <a:xfrm>
            <a:off x="152400" y="0"/>
            <a:ext cx="8839200" cy="652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900" b="1" dirty="0">
                <a:latin typeface="Times New Roman"/>
                <a:cs typeface="Times New Roman"/>
                <a:sym typeface="Times New Roman"/>
              </a:rPr>
              <a:t>OVERALL SOC ARCHITECTURE</a:t>
            </a:r>
            <a:endParaRPr sz="3700" dirty="0"/>
          </a:p>
        </p:txBody>
      </p:sp>
      <p:pic>
        <p:nvPicPr>
          <p:cNvPr id="174" name="Google Shape;174;p10">
            <a:extLst>
              <a:ext uri="{FF2B5EF4-FFF2-40B4-BE49-F238E27FC236}">
                <a16:creationId xmlns:a16="http://schemas.microsoft.com/office/drawing/2014/main" id="{927550B0-A080-20E9-4503-3F1048003D2C}"/>
              </a:ext>
            </a:extLst>
          </p:cNvPr>
          <p:cNvPicPr preferRelativeResize="0"/>
          <p:nvPr/>
        </p:nvPicPr>
        <p:blipFill rotWithShape="1">
          <a:blip r:embed="rId3">
            <a:alphaModFix/>
          </a:blip>
          <a:srcRect/>
          <a:stretch/>
        </p:blipFill>
        <p:spPr>
          <a:xfrm>
            <a:off x="0" y="6014458"/>
            <a:ext cx="9144000" cy="1014942"/>
          </a:xfrm>
          <a:prstGeom prst="rect">
            <a:avLst/>
          </a:prstGeom>
          <a:noFill/>
          <a:ln>
            <a:noFill/>
          </a:ln>
        </p:spPr>
      </p:pic>
      <p:pic>
        <p:nvPicPr>
          <p:cNvPr id="4" name="Picture 3">
            <a:extLst>
              <a:ext uri="{FF2B5EF4-FFF2-40B4-BE49-F238E27FC236}">
                <a16:creationId xmlns:a16="http://schemas.microsoft.com/office/drawing/2014/main" id="{B8C62149-235F-8031-D7AC-4FE283A75781}"/>
              </a:ext>
            </a:extLst>
          </p:cNvPr>
          <p:cNvPicPr>
            <a:picLocks noChangeAspect="1"/>
          </p:cNvPicPr>
          <p:nvPr/>
        </p:nvPicPr>
        <p:blipFill>
          <a:blip r:embed="rId4"/>
          <a:stretch>
            <a:fillRect/>
          </a:stretch>
        </p:blipFill>
        <p:spPr>
          <a:xfrm>
            <a:off x="0" y="859536"/>
            <a:ext cx="9144000" cy="4855464"/>
          </a:xfrm>
          <a:prstGeom prst="rect">
            <a:avLst/>
          </a:prstGeom>
        </p:spPr>
      </p:pic>
    </p:spTree>
    <p:extLst>
      <p:ext uri="{BB962C8B-B14F-4D97-AF65-F5344CB8AC3E}">
        <p14:creationId xmlns:p14="http://schemas.microsoft.com/office/powerpoint/2010/main" val="3734460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0"/>
          <p:cNvSpPr txBox="1">
            <a:spLocks noGrp="1"/>
          </p:cNvSpPr>
          <p:nvPr>
            <p:ph type="title"/>
          </p:nvPr>
        </p:nvSpPr>
        <p:spPr>
          <a:xfrm>
            <a:off x="152400" y="0"/>
            <a:ext cx="8839200" cy="652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900" b="1">
                <a:latin typeface="Times New Roman"/>
                <a:ea typeface="Times New Roman"/>
                <a:cs typeface="Times New Roman"/>
                <a:sym typeface="Times New Roman"/>
              </a:rPr>
              <a:t>PROPOSED METHODOLOGY OVERVIEW</a:t>
            </a:r>
            <a:endParaRPr sz="3700"/>
          </a:p>
        </p:txBody>
      </p:sp>
      <p:pic>
        <p:nvPicPr>
          <p:cNvPr id="174" name="Google Shape;174;p10"/>
          <p:cNvPicPr preferRelativeResize="0"/>
          <p:nvPr/>
        </p:nvPicPr>
        <p:blipFill rotWithShape="1">
          <a:blip r:embed="rId3">
            <a:alphaModFix/>
          </a:blip>
          <a:srcRect/>
          <a:stretch/>
        </p:blipFill>
        <p:spPr>
          <a:xfrm>
            <a:off x="0" y="6014458"/>
            <a:ext cx="9144000" cy="1014942"/>
          </a:xfrm>
          <a:prstGeom prst="rect">
            <a:avLst/>
          </a:prstGeom>
          <a:noFill/>
          <a:ln>
            <a:noFill/>
          </a:ln>
        </p:spPr>
      </p:pic>
      <p:pic>
        <p:nvPicPr>
          <p:cNvPr id="175" name="Google Shape;175;p10" title="BLOCK_DIAGRAM_3.png"/>
          <p:cNvPicPr preferRelativeResize="0"/>
          <p:nvPr/>
        </p:nvPicPr>
        <p:blipFill>
          <a:blip r:embed="rId4">
            <a:alphaModFix/>
          </a:blip>
          <a:stretch>
            <a:fillRect/>
          </a:stretch>
        </p:blipFill>
        <p:spPr>
          <a:xfrm>
            <a:off x="0" y="561975"/>
            <a:ext cx="9144002" cy="55126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2"/>
          <p:cNvSpPr txBox="1">
            <a:spLocks noGrp="1"/>
          </p:cNvSpPr>
          <p:nvPr>
            <p:ph type="title"/>
          </p:nvPr>
        </p:nvSpPr>
        <p:spPr>
          <a:xfrm>
            <a:off x="487563" y="104013"/>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ea typeface="Times New Roman"/>
                <a:cs typeface="Times New Roman"/>
                <a:sym typeface="Times New Roman"/>
              </a:rPr>
              <a:t>COMPONENTS REQUIRED:</a:t>
            </a:r>
            <a:endParaRPr sz="4000" dirty="0"/>
          </a:p>
        </p:txBody>
      </p:sp>
      <p:pic>
        <p:nvPicPr>
          <p:cNvPr id="188" name="Google Shape;188;p12"/>
          <p:cNvPicPr preferRelativeResize="0"/>
          <p:nvPr/>
        </p:nvPicPr>
        <p:blipFill rotWithShape="1">
          <a:blip r:embed="rId3">
            <a:alphaModFix/>
          </a:blip>
          <a:srcRect/>
          <a:stretch/>
        </p:blipFill>
        <p:spPr>
          <a:xfrm>
            <a:off x="30363" y="6163464"/>
            <a:ext cx="9144000" cy="843542"/>
          </a:xfrm>
          <a:prstGeom prst="rect">
            <a:avLst/>
          </a:prstGeom>
          <a:noFill/>
          <a:ln>
            <a:noFill/>
          </a:ln>
        </p:spPr>
      </p:pic>
      <p:sp>
        <p:nvSpPr>
          <p:cNvPr id="189" name="Google Shape;189;p12"/>
          <p:cNvSpPr txBox="1"/>
          <p:nvPr/>
        </p:nvSpPr>
        <p:spPr>
          <a:xfrm>
            <a:off x="535350" y="1276700"/>
            <a:ext cx="8281800" cy="439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800" b="1" dirty="0">
                <a:solidFill>
                  <a:schemeClr val="dk1"/>
                </a:solidFill>
                <a:latin typeface="Times New Roman"/>
                <a:ea typeface="Times New Roman"/>
                <a:cs typeface="Times New Roman"/>
                <a:sym typeface="Times New Roman"/>
              </a:rPr>
              <a:t>Hardware Design Tools:</a:t>
            </a:r>
            <a:endParaRPr sz="1800" b="1" dirty="0">
              <a:solidFill>
                <a:schemeClr val="dk1"/>
              </a:solidFill>
              <a:latin typeface="Times New Roman"/>
              <a:ea typeface="Times New Roman"/>
              <a:cs typeface="Times New Roman"/>
              <a:sym typeface="Times New Roman"/>
            </a:endParaRPr>
          </a:p>
          <a:p>
            <a:pPr marL="457200" lvl="0" indent="-342900" algn="l" rtl="0">
              <a:lnSpc>
                <a:spcPct val="115000"/>
              </a:lnSpc>
              <a:spcBef>
                <a:spcPts val="1200"/>
              </a:spcBef>
              <a:spcAft>
                <a:spcPts val="0"/>
              </a:spcAft>
              <a:buClr>
                <a:schemeClr val="dk1"/>
              </a:buClr>
              <a:buSzPts val="1800"/>
              <a:buChar char="●"/>
            </a:pPr>
            <a:r>
              <a:rPr lang="en-US" sz="1800" b="1" dirty="0">
                <a:solidFill>
                  <a:schemeClr val="dk1"/>
                </a:solidFill>
                <a:latin typeface="Times New Roman"/>
                <a:ea typeface="Times New Roman"/>
                <a:cs typeface="Times New Roman"/>
                <a:sym typeface="Times New Roman"/>
              </a:rPr>
              <a:t>HDL Language:</a:t>
            </a:r>
            <a:r>
              <a:rPr lang="en-US" sz="1800" dirty="0">
                <a:solidFill>
                  <a:schemeClr val="dk1"/>
                </a:solidFill>
                <a:latin typeface="Times New Roman"/>
                <a:ea typeface="Times New Roman"/>
                <a:cs typeface="Times New Roman"/>
                <a:sym typeface="Times New Roman"/>
              </a:rPr>
              <a:t> Verilog, System Verilog</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US" sz="1800" b="1" dirty="0">
                <a:solidFill>
                  <a:schemeClr val="dk1"/>
                </a:solidFill>
                <a:latin typeface="Times New Roman"/>
                <a:ea typeface="Times New Roman"/>
                <a:cs typeface="Times New Roman"/>
                <a:sym typeface="Times New Roman"/>
              </a:rPr>
              <a:t>HDL Simulator:</a:t>
            </a:r>
            <a:r>
              <a:rPr lang="en-US" sz="1800" dirty="0">
                <a:solidFill>
                  <a:schemeClr val="dk1"/>
                </a:solidFill>
                <a:latin typeface="Times New Roman"/>
                <a:ea typeface="Times New Roman"/>
                <a:cs typeface="Times New Roman"/>
                <a:sym typeface="Times New Roman"/>
              </a:rPr>
              <a:t> Synopsys VCS &amp; Verdi</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Char char="●"/>
            </a:pPr>
            <a:r>
              <a:rPr lang="en-US" sz="1800" b="1" dirty="0">
                <a:solidFill>
                  <a:schemeClr val="dk1"/>
                </a:solidFill>
                <a:latin typeface="Times New Roman"/>
                <a:ea typeface="Times New Roman"/>
                <a:cs typeface="Times New Roman"/>
                <a:sym typeface="Times New Roman"/>
              </a:rPr>
              <a:t>Synthesis Tool:</a:t>
            </a:r>
            <a:r>
              <a:rPr lang="en-US" sz="1800" dirty="0">
                <a:solidFill>
                  <a:schemeClr val="dk1"/>
                </a:solidFill>
                <a:latin typeface="Times New Roman"/>
                <a:ea typeface="Times New Roman"/>
                <a:cs typeface="Times New Roman"/>
                <a:sym typeface="Times New Roman"/>
              </a:rPr>
              <a:t> Synopsys Design Compiler</a:t>
            </a: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800" b="1" dirty="0">
                <a:solidFill>
                  <a:schemeClr val="dk1"/>
                </a:solidFill>
                <a:latin typeface="Times New Roman"/>
                <a:ea typeface="Times New Roman"/>
                <a:cs typeface="Times New Roman"/>
                <a:sym typeface="Times New Roman"/>
              </a:rPr>
              <a:t>Software Development Tools:</a:t>
            </a:r>
            <a:endParaRPr sz="1800" b="1" dirty="0">
              <a:solidFill>
                <a:schemeClr val="dk1"/>
              </a:solidFill>
              <a:latin typeface="Times New Roman"/>
              <a:ea typeface="Times New Roman"/>
              <a:cs typeface="Times New Roman"/>
              <a:sym typeface="Times New Roman"/>
            </a:endParaRPr>
          </a:p>
          <a:p>
            <a:pPr marL="457200" lvl="0" indent="-342900" algn="l" rtl="0">
              <a:lnSpc>
                <a:spcPct val="115000"/>
              </a:lnSpc>
              <a:spcBef>
                <a:spcPts val="1200"/>
              </a:spcBef>
              <a:spcAft>
                <a:spcPts val="0"/>
              </a:spcAft>
              <a:buClr>
                <a:schemeClr val="dk1"/>
              </a:buClr>
              <a:buSzPts val="1800"/>
              <a:buFont typeface="Times New Roman"/>
              <a:buChar char="●"/>
            </a:pPr>
            <a:r>
              <a:rPr lang="en-US" sz="1800" b="1" dirty="0">
                <a:solidFill>
                  <a:schemeClr val="dk1"/>
                </a:solidFill>
                <a:latin typeface="Times New Roman"/>
                <a:ea typeface="Times New Roman"/>
                <a:cs typeface="Times New Roman"/>
                <a:sym typeface="Times New Roman"/>
              </a:rPr>
              <a:t>RISC-V GCC Toolchain</a:t>
            </a:r>
            <a:endParaRPr sz="1800" b="1"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800" b="1" dirty="0">
                <a:solidFill>
                  <a:schemeClr val="dk1"/>
                </a:solidFill>
                <a:latin typeface="Times New Roman"/>
                <a:ea typeface="Times New Roman"/>
                <a:cs typeface="Times New Roman"/>
                <a:sym typeface="Times New Roman"/>
              </a:rPr>
              <a:t>Verification Environment:</a:t>
            </a:r>
            <a:endParaRPr sz="1800" b="1" dirty="0">
              <a:solidFill>
                <a:schemeClr val="dk1"/>
              </a:solidFill>
              <a:latin typeface="Times New Roman"/>
              <a:ea typeface="Times New Roman"/>
              <a:cs typeface="Times New Roman"/>
              <a:sym typeface="Times New Roman"/>
            </a:endParaRPr>
          </a:p>
          <a:p>
            <a:pPr marL="457200" lvl="0" indent="-342900" algn="l" rtl="0">
              <a:lnSpc>
                <a:spcPct val="115000"/>
              </a:lnSpc>
              <a:spcBef>
                <a:spcPts val="1200"/>
              </a:spcBef>
              <a:spcAft>
                <a:spcPts val="0"/>
              </a:spcAft>
              <a:buClr>
                <a:schemeClr val="dk1"/>
              </a:buClr>
              <a:buSzPts val="1800"/>
              <a:buFont typeface="Times New Roman"/>
              <a:buChar char="●"/>
            </a:pPr>
            <a:r>
              <a:rPr lang="en-IN" sz="1800" b="1" dirty="0">
                <a:solidFill>
                  <a:schemeClr val="dk1"/>
                </a:solidFill>
                <a:latin typeface="Times New Roman"/>
                <a:ea typeface="Times New Roman"/>
                <a:cs typeface="Times New Roman"/>
                <a:sym typeface="Times New Roman"/>
              </a:rPr>
              <a:t>System Verilog</a:t>
            </a:r>
            <a:endParaRPr sz="1800" b="1"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US" sz="1800" b="1" dirty="0">
                <a:solidFill>
                  <a:schemeClr val="dk1"/>
                </a:solidFill>
                <a:latin typeface="Times New Roman"/>
                <a:ea typeface="Times New Roman"/>
                <a:cs typeface="Times New Roman"/>
                <a:sym typeface="Times New Roman"/>
              </a:rPr>
              <a:t>Assertions and Coverages</a:t>
            </a:r>
            <a:endParaRPr sz="1800" b="1"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3200" dirty="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704C8F37-55D4-A933-D980-C663B52517E3}"/>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E057B977-8733-D940-BCA2-A4AB7EA3BB71}"/>
              </a:ext>
            </a:extLst>
          </p:cNvPr>
          <p:cNvSpPr txBox="1">
            <a:spLocks noGrp="1"/>
          </p:cNvSpPr>
          <p:nvPr>
            <p:ph type="title"/>
          </p:nvPr>
        </p:nvSpPr>
        <p:spPr>
          <a:xfrm>
            <a:off x="457200" y="32199"/>
            <a:ext cx="8229600" cy="53949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cs typeface="Times New Roman"/>
                <a:sym typeface="Times New Roman"/>
              </a:rPr>
              <a:t>RESULT – PROCESSOR</a:t>
            </a:r>
            <a:endParaRPr sz="4000" dirty="0"/>
          </a:p>
        </p:txBody>
      </p:sp>
      <p:pic>
        <p:nvPicPr>
          <p:cNvPr id="195" name="Google Shape;195;p16">
            <a:extLst>
              <a:ext uri="{FF2B5EF4-FFF2-40B4-BE49-F238E27FC236}">
                <a16:creationId xmlns:a16="http://schemas.microsoft.com/office/drawing/2014/main" id="{DB874303-0A3F-9893-8AF4-8487D2089075}"/>
              </a:ext>
            </a:extLst>
          </p:cNvPr>
          <p:cNvPicPr preferRelativeResize="0"/>
          <p:nvPr/>
        </p:nvPicPr>
        <p:blipFill rotWithShape="1">
          <a:blip r:embed="rId3">
            <a:alphaModFix/>
          </a:blip>
          <a:srcRect/>
          <a:stretch/>
        </p:blipFill>
        <p:spPr>
          <a:xfrm>
            <a:off x="30363" y="6163464"/>
            <a:ext cx="9144000" cy="843542"/>
          </a:xfrm>
          <a:prstGeom prst="rect">
            <a:avLst/>
          </a:prstGeom>
          <a:noFill/>
          <a:ln>
            <a:noFill/>
          </a:ln>
        </p:spPr>
      </p:pic>
      <p:sp>
        <p:nvSpPr>
          <p:cNvPr id="196" name="Google Shape;196;p16">
            <a:extLst>
              <a:ext uri="{FF2B5EF4-FFF2-40B4-BE49-F238E27FC236}">
                <a16:creationId xmlns:a16="http://schemas.microsoft.com/office/drawing/2014/main" id="{8BF130D5-CBF7-FCF6-EDB0-595976F4AA3F}"/>
              </a:ext>
            </a:extLst>
          </p:cNvPr>
          <p:cNvSpPr txBox="1"/>
          <p:nvPr/>
        </p:nvSpPr>
        <p:spPr>
          <a:xfrm>
            <a:off x="317148" y="416134"/>
            <a:ext cx="8296500" cy="1634304"/>
          </a:xfrm>
          <a:prstGeom prst="rect">
            <a:avLst/>
          </a:prstGeom>
          <a:noFill/>
          <a:ln>
            <a:noFill/>
          </a:ln>
        </p:spPr>
        <p:txBody>
          <a:bodyPr spcFirstLastPara="1" wrap="square" lIns="91425" tIns="91425" rIns="91425" bIns="91425" anchor="t" anchorCtr="0">
            <a:noAutofit/>
          </a:bodyPr>
          <a:lstStyle/>
          <a:p>
            <a:endParaRPr lang="en-US" sz="1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have successfully completed the design of the </a:t>
            </a:r>
            <a:r>
              <a:rPr lang="en-US" sz="1800" b="1" dirty="0">
                <a:latin typeface="Times New Roman" panose="02020603050405020304" pitchFamily="18" charset="0"/>
                <a:cs typeface="Times New Roman" panose="02020603050405020304" pitchFamily="18" charset="0"/>
              </a:rPr>
              <a:t>RISC-V RV32I pipelined processor</a:t>
            </a:r>
            <a:r>
              <a:rPr lang="en-US" sz="1800" dirty="0">
                <a:latin typeface="Times New Roman" panose="02020603050405020304" pitchFamily="18" charset="0"/>
                <a:cs typeface="Times New Roman" panose="02020603050405020304" pitchFamily="18" charset="0"/>
              </a:rPr>
              <a:t>, which is the foundational core of our </a:t>
            </a:r>
            <a:r>
              <a:rPr lang="en-US" sz="1800" dirty="0" err="1">
                <a:latin typeface="Times New Roman" panose="02020603050405020304" pitchFamily="18" charset="0"/>
                <a:cs typeface="Times New Roman" panose="02020603050405020304" pitchFamily="18" charset="0"/>
              </a:rPr>
              <a:t>SoC.</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core is now ready for the next phase, which involves integrating our custom hardware, peripherals, and the second core to create the full </a:t>
            </a:r>
            <a:r>
              <a:rPr lang="en-US" sz="1800" b="1" dirty="0">
                <a:latin typeface="Times New Roman" panose="02020603050405020304" pitchFamily="18" charset="0"/>
                <a:cs typeface="Times New Roman" panose="02020603050405020304" pitchFamily="18" charset="0"/>
              </a:rPr>
              <a:t>System-on-a-Chip</a:t>
            </a:r>
            <a:r>
              <a:rPr lang="en-US" sz="1800" dirty="0">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830BE50F-8E39-A39E-C0CA-F3AA55A28CE4}"/>
              </a:ext>
            </a:extLst>
          </p:cNvPr>
          <p:cNvPicPr>
            <a:picLocks noChangeAspect="1"/>
          </p:cNvPicPr>
          <p:nvPr/>
        </p:nvPicPr>
        <p:blipFill>
          <a:blip r:embed="rId4"/>
          <a:stretch>
            <a:fillRect/>
          </a:stretch>
        </p:blipFill>
        <p:spPr>
          <a:xfrm>
            <a:off x="0" y="2133655"/>
            <a:ext cx="9144000" cy="3756523"/>
          </a:xfrm>
          <a:prstGeom prst="rect">
            <a:avLst/>
          </a:prstGeom>
        </p:spPr>
      </p:pic>
      <p:sp>
        <p:nvSpPr>
          <p:cNvPr id="4" name="TextBox 3">
            <a:extLst>
              <a:ext uri="{FF2B5EF4-FFF2-40B4-BE49-F238E27FC236}">
                <a16:creationId xmlns:a16="http://schemas.microsoft.com/office/drawing/2014/main" id="{0F0C18EA-405B-798C-52BA-D6A63134CC8E}"/>
              </a:ext>
            </a:extLst>
          </p:cNvPr>
          <p:cNvSpPr txBox="1"/>
          <p:nvPr/>
        </p:nvSpPr>
        <p:spPr>
          <a:xfrm>
            <a:off x="-30363" y="1964378"/>
            <a:ext cx="5017125"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Extracted Processor Architecture from Synopsys VCS:</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6317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D36561F2-FAC7-3627-2EE7-AE4378754CFD}"/>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E73F8E19-5617-C311-8B20-43950ADE463C}"/>
              </a:ext>
            </a:extLst>
          </p:cNvPr>
          <p:cNvSpPr txBox="1">
            <a:spLocks noGrp="1"/>
          </p:cNvSpPr>
          <p:nvPr>
            <p:ph type="title"/>
          </p:nvPr>
        </p:nvSpPr>
        <p:spPr>
          <a:xfrm>
            <a:off x="457200" y="32199"/>
            <a:ext cx="8229600" cy="53949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cs typeface="Times New Roman"/>
                <a:sym typeface="Times New Roman"/>
              </a:rPr>
              <a:t>RESULT – PROCESSOR</a:t>
            </a:r>
            <a:endParaRPr sz="4000" dirty="0"/>
          </a:p>
        </p:txBody>
      </p:sp>
      <p:pic>
        <p:nvPicPr>
          <p:cNvPr id="195" name="Google Shape;195;p16">
            <a:extLst>
              <a:ext uri="{FF2B5EF4-FFF2-40B4-BE49-F238E27FC236}">
                <a16:creationId xmlns:a16="http://schemas.microsoft.com/office/drawing/2014/main" id="{9AF0CF11-00DE-A040-242A-4042B81D2D9A}"/>
              </a:ext>
            </a:extLst>
          </p:cNvPr>
          <p:cNvPicPr preferRelativeResize="0"/>
          <p:nvPr/>
        </p:nvPicPr>
        <p:blipFill rotWithShape="1">
          <a:blip r:embed="rId3">
            <a:alphaModFix/>
          </a:blip>
          <a:srcRect/>
          <a:stretch/>
        </p:blipFill>
        <p:spPr>
          <a:xfrm>
            <a:off x="30363" y="6163464"/>
            <a:ext cx="9144000" cy="843542"/>
          </a:xfrm>
          <a:prstGeom prst="rect">
            <a:avLst/>
          </a:prstGeom>
          <a:noFill/>
          <a:ln>
            <a:noFill/>
          </a:ln>
        </p:spPr>
      </p:pic>
      <p:sp>
        <p:nvSpPr>
          <p:cNvPr id="4" name="TextBox 3">
            <a:extLst>
              <a:ext uri="{FF2B5EF4-FFF2-40B4-BE49-F238E27FC236}">
                <a16:creationId xmlns:a16="http://schemas.microsoft.com/office/drawing/2014/main" id="{9637D1AF-B799-E849-130C-E3457429C96C}"/>
              </a:ext>
            </a:extLst>
          </p:cNvPr>
          <p:cNvSpPr txBox="1"/>
          <p:nvPr/>
        </p:nvSpPr>
        <p:spPr>
          <a:xfrm>
            <a:off x="0" y="571695"/>
            <a:ext cx="5017125" cy="338554"/>
          </a:xfrm>
          <a:prstGeom prst="rect">
            <a:avLst/>
          </a:prstGeom>
          <a:noFill/>
        </p:spPr>
        <p:txBody>
          <a:bodyPr wrap="square" rtlCol="0">
            <a:spAutoFit/>
          </a:bodyPr>
          <a:lstStyle/>
          <a:p>
            <a:r>
              <a:rPr lang="en-US" sz="1600" b="1" dirty="0"/>
              <a:t>Simulated Waveform of Pipelined Processor</a:t>
            </a:r>
            <a:r>
              <a:rPr lang="en-US" sz="1600" b="1" dirty="0">
                <a:latin typeface="Times New Roman" panose="02020603050405020304" pitchFamily="18" charset="0"/>
                <a:cs typeface="Times New Roman" panose="02020603050405020304" pitchFamily="18" charset="0"/>
              </a:rPr>
              <a:t>:</a:t>
            </a:r>
            <a:endParaRPr lang="en-IN" sz="1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AE78BFF-B5A5-8759-0167-C2B24A326F06}"/>
              </a:ext>
            </a:extLst>
          </p:cNvPr>
          <p:cNvPicPr>
            <a:picLocks noChangeAspect="1"/>
          </p:cNvPicPr>
          <p:nvPr/>
        </p:nvPicPr>
        <p:blipFill>
          <a:blip r:embed="rId4"/>
          <a:stretch>
            <a:fillRect/>
          </a:stretch>
        </p:blipFill>
        <p:spPr>
          <a:xfrm>
            <a:off x="0" y="1014984"/>
            <a:ext cx="9144000" cy="5148480"/>
          </a:xfrm>
          <a:prstGeom prst="rect">
            <a:avLst/>
          </a:prstGeom>
        </p:spPr>
      </p:pic>
    </p:spTree>
    <p:extLst>
      <p:ext uri="{BB962C8B-B14F-4D97-AF65-F5344CB8AC3E}">
        <p14:creationId xmlns:p14="http://schemas.microsoft.com/office/powerpoint/2010/main" val="3562392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769B5E1B-5F32-AB23-639B-92D969F2C70F}"/>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6307F01E-0F4F-4D02-3D26-2000BB595219}"/>
              </a:ext>
            </a:extLst>
          </p:cNvPr>
          <p:cNvSpPr txBox="1">
            <a:spLocks noGrp="1"/>
          </p:cNvSpPr>
          <p:nvPr>
            <p:ph type="title"/>
          </p:nvPr>
        </p:nvSpPr>
        <p:spPr>
          <a:xfrm>
            <a:off x="457200" y="32199"/>
            <a:ext cx="8229600" cy="53949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cs typeface="Times New Roman"/>
                <a:sym typeface="Times New Roman"/>
              </a:rPr>
              <a:t>RESULT – PROCESSOR</a:t>
            </a:r>
            <a:endParaRPr sz="4000" dirty="0"/>
          </a:p>
        </p:txBody>
      </p:sp>
      <p:pic>
        <p:nvPicPr>
          <p:cNvPr id="195" name="Google Shape;195;p16">
            <a:extLst>
              <a:ext uri="{FF2B5EF4-FFF2-40B4-BE49-F238E27FC236}">
                <a16:creationId xmlns:a16="http://schemas.microsoft.com/office/drawing/2014/main" id="{E4AB05C9-3F0C-E965-EFB9-05EA6F1C81B8}"/>
              </a:ext>
            </a:extLst>
          </p:cNvPr>
          <p:cNvPicPr preferRelativeResize="0"/>
          <p:nvPr/>
        </p:nvPicPr>
        <p:blipFill rotWithShape="1">
          <a:blip r:embed="rId3">
            <a:alphaModFix/>
          </a:blip>
          <a:srcRect/>
          <a:stretch/>
        </p:blipFill>
        <p:spPr>
          <a:xfrm>
            <a:off x="30363" y="6163464"/>
            <a:ext cx="9144000" cy="843542"/>
          </a:xfrm>
          <a:prstGeom prst="rect">
            <a:avLst/>
          </a:prstGeom>
          <a:noFill/>
          <a:ln>
            <a:noFill/>
          </a:ln>
        </p:spPr>
      </p:pic>
      <p:sp>
        <p:nvSpPr>
          <p:cNvPr id="4" name="TextBox 3">
            <a:extLst>
              <a:ext uri="{FF2B5EF4-FFF2-40B4-BE49-F238E27FC236}">
                <a16:creationId xmlns:a16="http://schemas.microsoft.com/office/drawing/2014/main" id="{DF900A34-D5C1-88E8-62B8-F88862757283}"/>
              </a:ext>
            </a:extLst>
          </p:cNvPr>
          <p:cNvSpPr txBox="1"/>
          <p:nvPr/>
        </p:nvSpPr>
        <p:spPr>
          <a:xfrm>
            <a:off x="0" y="571695"/>
            <a:ext cx="5017125" cy="338554"/>
          </a:xfrm>
          <a:prstGeom prst="rect">
            <a:avLst/>
          </a:prstGeom>
          <a:noFill/>
        </p:spPr>
        <p:txBody>
          <a:bodyPr wrap="square" rtlCol="0">
            <a:spAutoFit/>
          </a:bodyPr>
          <a:lstStyle/>
          <a:p>
            <a:r>
              <a:rPr lang="en-US" sz="1600" b="1" dirty="0"/>
              <a:t>Synthesized output of Pipelined Processor</a:t>
            </a:r>
            <a:r>
              <a:rPr lang="en-US" sz="1600" b="1" dirty="0">
                <a:latin typeface="Times New Roman" panose="02020603050405020304" pitchFamily="18" charset="0"/>
                <a:cs typeface="Times New Roman" panose="02020603050405020304" pitchFamily="18" charset="0"/>
              </a:rPr>
              <a:t>:</a:t>
            </a:r>
            <a:endParaRPr lang="en-IN" sz="16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30B1AB4-1E3B-2A9D-02EE-4C7A68EC6563}"/>
              </a:ext>
            </a:extLst>
          </p:cNvPr>
          <p:cNvPicPr>
            <a:picLocks noChangeAspect="1"/>
          </p:cNvPicPr>
          <p:nvPr/>
        </p:nvPicPr>
        <p:blipFill>
          <a:blip r:embed="rId4"/>
          <a:stretch>
            <a:fillRect/>
          </a:stretch>
        </p:blipFill>
        <p:spPr>
          <a:xfrm>
            <a:off x="0" y="944279"/>
            <a:ext cx="9144000" cy="4969441"/>
          </a:xfrm>
          <a:prstGeom prst="rect">
            <a:avLst/>
          </a:prstGeom>
        </p:spPr>
      </p:pic>
    </p:spTree>
    <p:extLst>
      <p:ext uri="{BB962C8B-B14F-4D97-AF65-F5344CB8AC3E}">
        <p14:creationId xmlns:p14="http://schemas.microsoft.com/office/powerpoint/2010/main" val="3056243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06CC6916-97B2-39EF-9061-4C74D58321C2}"/>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3E6D80BF-DC71-4501-5D41-52F03B99E124}"/>
              </a:ext>
            </a:extLst>
          </p:cNvPr>
          <p:cNvSpPr txBox="1">
            <a:spLocks noGrp="1"/>
          </p:cNvSpPr>
          <p:nvPr>
            <p:ph type="title"/>
          </p:nvPr>
        </p:nvSpPr>
        <p:spPr>
          <a:xfrm>
            <a:off x="457200" y="102522"/>
            <a:ext cx="8229600" cy="53949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cs typeface="Times New Roman"/>
                <a:sym typeface="Times New Roman"/>
              </a:rPr>
              <a:t>RESULT – FILTER PROCESS</a:t>
            </a:r>
            <a:endParaRPr sz="4000" dirty="0"/>
          </a:p>
        </p:txBody>
      </p:sp>
      <p:pic>
        <p:nvPicPr>
          <p:cNvPr id="195" name="Google Shape;195;p16">
            <a:extLst>
              <a:ext uri="{FF2B5EF4-FFF2-40B4-BE49-F238E27FC236}">
                <a16:creationId xmlns:a16="http://schemas.microsoft.com/office/drawing/2014/main" id="{FFAEF305-9B0F-7B7D-3F4A-BD8F45445DEC}"/>
              </a:ext>
            </a:extLst>
          </p:cNvPr>
          <p:cNvPicPr preferRelativeResize="0"/>
          <p:nvPr/>
        </p:nvPicPr>
        <p:blipFill rotWithShape="1">
          <a:blip r:embed="rId3">
            <a:alphaModFix/>
          </a:blip>
          <a:srcRect/>
          <a:stretch/>
        </p:blipFill>
        <p:spPr>
          <a:xfrm>
            <a:off x="30363" y="6163464"/>
            <a:ext cx="9144000" cy="843542"/>
          </a:xfrm>
          <a:prstGeom prst="rect">
            <a:avLst/>
          </a:prstGeom>
          <a:noFill/>
          <a:ln>
            <a:noFill/>
          </a:ln>
        </p:spPr>
      </p:pic>
      <p:sp>
        <p:nvSpPr>
          <p:cNvPr id="4" name="TextBox 3">
            <a:extLst>
              <a:ext uri="{FF2B5EF4-FFF2-40B4-BE49-F238E27FC236}">
                <a16:creationId xmlns:a16="http://schemas.microsoft.com/office/drawing/2014/main" id="{C6E8ACEE-D758-04C5-EF7D-DA5EA3CFB30B}"/>
              </a:ext>
            </a:extLst>
          </p:cNvPr>
          <p:cNvSpPr txBox="1"/>
          <p:nvPr/>
        </p:nvSpPr>
        <p:spPr>
          <a:xfrm>
            <a:off x="393192" y="669450"/>
            <a:ext cx="5017125" cy="338554"/>
          </a:xfrm>
          <a:prstGeom prst="rect">
            <a:avLst/>
          </a:prstGeom>
          <a:noFill/>
        </p:spPr>
        <p:txBody>
          <a:bodyPr wrap="square" rtlCol="0">
            <a:spAutoFit/>
          </a:bodyPr>
          <a:lstStyle/>
          <a:p>
            <a:r>
              <a:rPr lang="en-US" sz="1600" b="1" dirty="0"/>
              <a:t>FIR Program Log</a:t>
            </a:r>
            <a:r>
              <a:rPr lang="en-US" sz="1600" b="1" dirty="0">
                <a:latin typeface="Times New Roman" panose="02020603050405020304" pitchFamily="18" charset="0"/>
                <a:cs typeface="Times New Roman" panose="02020603050405020304" pitchFamily="18" charset="0"/>
              </a:rPr>
              <a:t>:</a:t>
            </a:r>
            <a:endParaRPr lang="en-IN" sz="1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ADFDD27-37C2-78C8-4314-CCEB922DE78E}"/>
              </a:ext>
            </a:extLst>
          </p:cNvPr>
          <p:cNvPicPr>
            <a:picLocks noChangeAspect="1"/>
          </p:cNvPicPr>
          <p:nvPr/>
        </p:nvPicPr>
        <p:blipFill>
          <a:blip r:embed="rId4"/>
          <a:stretch>
            <a:fillRect/>
          </a:stretch>
        </p:blipFill>
        <p:spPr>
          <a:xfrm>
            <a:off x="1490986" y="1093129"/>
            <a:ext cx="5723116" cy="4900085"/>
          </a:xfrm>
          <a:prstGeom prst="rect">
            <a:avLst/>
          </a:prstGeom>
        </p:spPr>
      </p:pic>
    </p:spTree>
    <p:extLst>
      <p:ext uri="{BB962C8B-B14F-4D97-AF65-F5344CB8AC3E}">
        <p14:creationId xmlns:p14="http://schemas.microsoft.com/office/powerpoint/2010/main" val="3693110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2A78988A-B595-FDD0-A4B5-728528E1EA59}"/>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30D7A857-38A1-B053-84DE-67AED8FD70F8}"/>
              </a:ext>
            </a:extLst>
          </p:cNvPr>
          <p:cNvSpPr txBox="1">
            <a:spLocks noGrp="1"/>
          </p:cNvSpPr>
          <p:nvPr>
            <p:ph type="title"/>
          </p:nvPr>
        </p:nvSpPr>
        <p:spPr>
          <a:xfrm>
            <a:off x="457200" y="102522"/>
            <a:ext cx="8229600" cy="53949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cs typeface="Times New Roman"/>
                <a:sym typeface="Times New Roman"/>
              </a:rPr>
              <a:t>RESULT – CNN  DETECTION</a:t>
            </a:r>
            <a:endParaRPr sz="4000" dirty="0"/>
          </a:p>
        </p:txBody>
      </p:sp>
      <p:pic>
        <p:nvPicPr>
          <p:cNvPr id="195" name="Google Shape;195;p16">
            <a:extLst>
              <a:ext uri="{FF2B5EF4-FFF2-40B4-BE49-F238E27FC236}">
                <a16:creationId xmlns:a16="http://schemas.microsoft.com/office/drawing/2014/main" id="{41E71321-D54D-503A-232F-42080CB364BC}"/>
              </a:ext>
            </a:extLst>
          </p:cNvPr>
          <p:cNvPicPr preferRelativeResize="0"/>
          <p:nvPr/>
        </p:nvPicPr>
        <p:blipFill rotWithShape="1">
          <a:blip r:embed="rId3">
            <a:alphaModFix/>
          </a:blip>
          <a:srcRect/>
          <a:stretch/>
        </p:blipFill>
        <p:spPr>
          <a:xfrm>
            <a:off x="30363" y="6163464"/>
            <a:ext cx="9144000" cy="843542"/>
          </a:xfrm>
          <a:prstGeom prst="rect">
            <a:avLst/>
          </a:prstGeom>
          <a:noFill/>
          <a:ln>
            <a:noFill/>
          </a:ln>
        </p:spPr>
      </p:pic>
      <p:sp>
        <p:nvSpPr>
          <p:cNvPr id="4" name="TextBox 3">
            <a:extLst>
              <a:ext uri="{FF2B5EF4-FFF2-40B4-BE49-F238E27FC236}">
                <a16:creationId xmlns:a16="http://schemas.microsoft.com/office/drawing/2014/main" id="{EA58ECE4-9B9E-E4EC-FB17-8B3F1FE7D07A}"/>
              </a:ext>
            </a:extLst>
          </p:cNvPr>
          <p:cNvSpPr txBox="1"/>
          <p:nvPr/>
        </p:nvSpPr>
        <p:spPr>
          <a:xfrm>
            <a:off x="393192" y="669450"/>
            <a:ext cx="5017125" cy="338554"/>
          </a:xfrm>
          <a:prstGeom prst="rect">
            <a:avLst/>
          </a:prstGeom>
          <a:noFill/>
        </p:spPr>
        <p:txBody>
          <a:bodyPr wrap="square" rtlCol="0">
            <a:spAutoFit/>
          </a:bodyPr>
          <a:lstStyle/>
          <a:p>
            <a:r>
              <a:rPr lang="en-US" sz="1600" b="1" dirty="0"/>
              <a:t>CNN Detection</a:t>
            </a:r>
            <a:r>
              <a:rPr lang="en-US" sz="1600" b="1" dirty="0">
                <a:latin typeface="Times New Roman" panose="02020603050405020304" pitchFamily="18" charset="0"/>
                <a:cs typeface="Times New Roman" panose="02020603050405020304" pitchFamily="18" charset="0"/>
              </a:rPr>
              <a:t>:</a:t>
            </a:r>
            <a:endParaRPr lang="en-IN" sz="16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DB65D07-482D-468C-C96A-A39B26C158FE}"/>
              </a:ext>
            </a:extLst>
          </p:cNvPr>
          <p:cNvPicPr>
            <a:picLocks noChangeAspect="1"/>
          </p:cNvPicPr>
          <p:nvPr/>
        </p:nvPicPr>
        <p:blipFill>
          <a:blip r:embed="rId4"/>
          <a:stretch>
            <a:fillRect/>
          </a:stretch>
        </p:blipFill>
        <p:spPr>
          <a:xfrm>
            <a:off x="1645920" y="1468270"/>
            <a:ext cx="5120039" cy="3868941"/>
          </a:xfrm>
          <a:prstGeom prst="rect">
            <a:avLst/>
          </a:prstGeom>
        </p:spPr>
      </p:pic>
    </p:spTree>
    <p:extLst>
      <p:ext uri="{BB962C8B-B14F-4D97-AF65-F5344CB8AC3E}">
        <p14:creationId xmlns:p14="http://schemas.microsoft.com/office/powerpoint/2010/main" val="3368921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457200" y="110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CONCLUSION</a:t>
            </a:r>
            <a:endParaRPr/>
          </a:p>
        </p:txBody>
      </p:sp>
      <p:pic>
        <p:nvPicPr>
          <p:cNvPr id="202" name="Google Shape;202;p18"/>
          <p:cNvPicPr preferRelativeResize="0"/>
          <p:nvPr/>
        </p:nvPicPr>
        <p:blipFill rotWithShape="1">
          <a:blip r:embed="rId3">
            <a:alphaModFix/>
          </a:blip>
          <a:srcRect/>
          <a:stretch/>
        </p:blipFill>
        <p:spPr>
          <a:xfrm>
            <a:off x="30363" y="6163464"/>
            <a:ext cx="9144000" cy="843542"/>
          </a:xfrm>
          <a:prstGeom prst="rect">
            <a:avLst/>
          </a:prstGeom>
          <a:noFill/>
          <a:ln>
            <a:noFill/>
          </a:ln>
        </p:spPr>
      </p:pic>
      <p:sp>
        <p:nvSpPr>
          <p:cNvPr id="203" name="Google Shape;203;p18"/>
          <p:cNvSpPr txBox="1"/>
          <p:nvPr/>
        </p:nvSpPr>
        <p:spPr>
          <a:xfrm>
            <a:off x="353325" y="978525"/>
            <a:ext cx="8498100" cy="4621800"/>
          </a:xfrm>
          <a:prstGeom prst="rect">
            <a:avLst/>
          </a:prstGeom>
          <a:noFill/>
          <a:ln>
            <a:noFill/>
          </a:ln>
        </p:spPr>
        <p:txBody>
          <a:bodyPr spcFirstLastPara="1" wrap="square" lIns="91425" tIns="91425" rIns="91425" bIns="91425" anchor="t" anchorCtr="0">
            <a:noAutofit/>
          </a:bodyPr>
          <a:lstStyle/>
          <a:p>
            <a:pPr marL="457200" lvl="0" indent="-374650" algn="l" rtl="0">
              <a:spcBef>
                <a:spcPts val="0"/>
              </a:spcBef>
              <a:spcAft>
                <a:spcPts val="0"/>
              </a:spcAft>
              <a:buClr>
                <a:schemeClr val="dk1"/>
              </a:buClr>
              <a:buSzPts val="2300"/>
              <a:buFont typeface="Times New Roman"/>
              <a:buChar char="●"/>
            </a:pPr>
            <a:r>
              <a:rPr lang="en-US" sz="2300" b="1">
                <a:solidFill>
                  <a:schemeClr val="dk1"/>
                </a:solidFill>
                <a:latin typeface="Times New Roman"/>
                <a:ea typeface="Times New Roman"/>
                <a:cs typeface="Times New Roman"/>
                <a:sym typeface="Times New Roman"/>
              </a:rPr>
              <a:t>Architectural Innovation:</a:t>
            </a:r>
            <a:r>
              <a:rPr lang="en-US" sz="2300">
                <a:solidFill>
                  <a:schemeClr val="dk1"/>
                </a:solidFill>
                <a:latin typeface="Times New Roman"/>
                <a:ea typeface="Times New Roman"/>
                <a:cs typeface="Times New Roman"/>
                <a:sym typeface="Times New Roman"/>
              </a:rPr>
              <a:t> We designed and built a custom </a:t>
            </a:r>
            <a:r>
              <a:rPr lang="en-US" sz="2300" b="1">
                <a:solidFill>
                  <a:schemeClr val="dk1"/>
                </a:solidFill>
                <a:latin typeface="Times New Roman"/>
                <a:ea typeface="Times New Roman"/>
                <a:cs typeface="Times New Roman"/>
                <a:sym typeface="Times New Roman"/>
              </a:rPr>
              <a:t>RISC-V SoC</a:t>
            </a:r>
            <a:r>
              <a:rPr lang="en-US" sz="2300">
                <a:solidFill>
                  <a:schemeClr val="dk1"/>
                </a:solidFill>
                <a:latin typeface="Times New Roman"/>
                <a:ea typeface="Times New Roman"/>
                <a:cs typeface="Times New Roman"/>
                <a:sym typeface="Times New Roman"/>
              </a:rPr>
              <a:t> with </a:t>
            </a:r>
            <a:r>
              <a:rPr lang="en-US" sz="2300" b="1">
                <a:solidFill>
                  <a:schemeClr val="dk1"/>
                </a:solidFill>
                <a:latin typeface="Times New Roman"/>
                <a:ea typeface="Times New Roman"/>
                <a:cs typeface="Times New Roman"/>
                <a:sym typeface="Times New Roman"/>
              </a:rPr>
              <a:t>Vector MAC (V-MAC)</a:t>
            </a:r>
            <a:r>
              <a:rPr lang="en-US" sz="2300">
                <a:solidFill>
                  <a:schemeClr val="dk1"/>
                </a:solidFill>
                <a:latin typeface="Times New Roman"/>
                <a:ea typeface="Times New Roman"/>
                <a:cs typeface="Times New Roman"/>
                <a:sym typeface="Times New Roman"/>
              </a:rPr>
              <a:t> and </a:t>
            </a:r>
            <a:r>
              <a:rPr lang="en-US" sz="2300" b="1">
                <a:solidFill>
                  <a:schemeClr val="dk1"/>
                </a:solidFill>
                <a:latin typeface="Times New Roman"/>
                <a:ea typeface="Times New Roman"/>
                <a:cs typeface="Times New Roman"/>
                <a:sym typeface="Times New Roman"/>
              </a:rPr>
              <a:t>Bit-Reversal</a:t>
            </a:r>
            <a:r>
              <a:rPr lang="en-US" sz="2300">
                <a:solidFill>
                  <a:schemeClr val="dk1"/>
                </a:solidFill>
                <a:latin typeface="Times New Roman"/>
                <a:ea typeface="Times New Roman"/>
                <a:cs typeface="Times New Roman"/>
                <a:sym typeface="Times New Roman"/>
              </a:rPr>
              <a:t> instructions to accelerate signal processing.</a:t>
            </a:r>
            <a:endParaRPr sz="230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2300">
              <a:solidFill>
                <a:schemeClr val="dk1"/>
              </a:solidFill>
              <a:latin typeface="Times New Roman"/>
              <a:ea typeface="Times New Roman"/>
              <a:cs typeface="Times New Roman"/>
              <a:sym typeface="Times New Roman"/>
            </a:endParaRPr>
          </a:p>
          <a:p>
            <a:pPr marL="457200" lvl="0" indent="-374650" algn="l" rtl="0">
              <a:spcBef>
                <a:spcPts val="0"/>
              </a:spcBef>
              <a:spcAft>
                <a:spcPts val="0"/>
              </a:spcAft>
              <a:buClr>
                <a:schemeClr val="dk1"/>
              </a:buClr>
              <a:buSzPts val="2300"/>
              <a:buFont typeface="Times New Roman"/>
              <a:buChar char="●"/>
            </a:pPr>
            <a:r>
              <a:rPr lang="en-US" sz="2300" b="1">
                <a:solidFill>
                  <a:schemeClr val="dk1"/>
                </a:solidFill>
                <a:latin typeface="Times New Roman"/>
                <a:ea typeface="Times New Roman"/>
                <a:cs typeface="Times New Roman"/>
                <a:sym typeface="Times New Roman"/>
              </a:rPr>
              <a:t>Performance &amp; Efficiency:</a:t>
            </a:r>
            <a:r>
              <a:rPr lang="en-US" sz="2300">
                <a:solidFill>
                  <a:schemeClr val="dk1"/>
                </a:solidFill>
                <a:latin typeface="Times New Roman"/>
                <a:ea typeface="Times New Roman"/>
                <a:cs typeface="Times New Roman"/>
                <a:sym typeface="Times New Roman"/>
              </a:rPr>
              <a:t> Our design delivers superior </a:t>
            </a:r>
            <a:r>
              <a:rPr lang="en-US" sz="2300" b="1">
                <a:solidFill>
                  <a:schemeClr val="dk1"/>
                </a:solidFill>
                <a:latin typeface="Times New Roman"/>
                <a:ea typeface="Times New Roman"/>
                <a:cs typeface="Times New Roman"/>
                <a:sym typeface="Times New Roman"/>
              </a:rPr>
              <a:t>speed</a:t>
            </a:r>
            <a:r>
              <a:rPr lang="en-US" sz="2300">
                <a:solidFill>
                  <a:schemeClr val="dk1"/>
                </a:solidFill>
                <a:latin typeface="Times New Roman"/>
                <a:ea typeface="Times New Roman"/>
                <a:cs typeface="Times New Roman"/>
                <a:sym typeface="Times New Roman"/>
              </a:rPr>
              <a:t> and </a:t>
            </a:r>
            <a:r>
              <a:rPr lang="en-US" sz="2300" b="1">
                <a:solidFill>
                  <a:schemeClr val="dk1"/>
                </a:solidFill>
                <a:latin typeface="Times New Roman"/>
                <a:ea typeface="Times New Roman"/>
                <a:cs typeface="Times New Roman"/>
                <a:sym typeface="Times New Roman"/>
              </a:rPr>
              <a:t>power efficiency</a:t>
            </a:r>
            <a:r>
              <a:rPr lang="en-US" sz="2300">
                <a:solidFill>
                  <a:schemeClr val="dk1"/>
                </a:solidFill>
                <a:latin typeface="Times New Roman"/>
                <a:ea typeface="Times New Roman"/>
                <a:cs typeface="Times New Roman"/>
                <a:sym typeface="Times New Roman"/>
              </a:rPr>
              <a:t> by performing complex calculations in a single clock cycle.</a:t>
            </a:r>
            <a:endParaRPr sz="230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2300">
              <a:solidFill>
                <a:schemeClr val="dk1"/>
              </a:solidFill>
              <a:latin typeface="Times New Roman"/>
              <a:ea typeface="Times New Roman"/>
              <a:cs typeface="Times New Roman"/>
              <a:sym typeface="Times New Roman"/>
            </a:endParaRPr>
          </a:p>
          <a:p>
            <a:pPr marL="457200" lvl="0" indent="-374650" algn="l" rtl="0">
              <a:spcBef>
                <a:spcPts val="0"/>
              </a:spcBef>
              <a:spcAft>
                <a:spcPts val="0"/>
              </a:spcAft>
              <a:buClr>
                <a:schemeClr val="dk1"/>
              </a:buClr>
              <a:buSzPts val="2300"/>
              <a:buFont typeface="Times New Roman"/>
              <a:buChar char="●"/>
            </a:pPr>
            <a:r>
              <a:rPr lang="en-US" sz="2300" b="1">
                <a:solidFill>
                  <a:schemeClr val="dk1"/>
                </a:solidFill>
                <a:latin typeface="Times New Roman"/>
                <a:ea typeface="Times New Roman"/>
                <a:cs typeface="Times New Roman"/>
                <a:sym typeface="Times New Roman"/>
              </a:rPr>
              <a:t>On-Device Intelligence:</a:t>
            </a:r>
            <a:r>
              <a:rPr lang="en-US" sz="2300">
                <a:solidFill>
                  <a:schemeClr val="dk1"/>
                </a:solidFill>
                <a:latin typeface="Times New Roman"/>
                <a:ea typeface="Times New Roman"/>
                <a:cs typeface="Times New Roman"/>
                <a:sym typeface="Times New Roman"/>
              </a:rPr>
              <a:t> The SoC enables </a:t>
            </a:r>
            <a:r>
              <a:rPr lang="en-US" sz="2300" b="1">
                <a:solidFill>
                  <a:schemeClr val="dk1"/>
                </a:solidFill>
                <a:latin typeface="Times New Roman"/>
                <a:ea typeface="Times New Roman"/>
                <a:cs typeface="Times New Roman"/>
                <a:sym typeface="Times New Roman"/>
              </a:rPr>
              <a:t>real-time diagnosis</a:t>
            </a:r>
            <a:r>
              <a:rPr lang="en-US" sz="2300">
                <a:solidFill>
                  <a:schemeClr val="dk1"/>
                </a:solidFill>
                <a:latin typeface="Times New Roman"/>
                <a:ea typeface="Times New Roman"/>
                <a:cs typeface="Times New Roman"/>
                <a:sym typeface="Times New Roman"/>
              </a:rPr>
              <a:t> using an on-chip </a:t>
            </a:r>
            <a:r>
              <a:rPr lang="en-US" sz="2300" b="1">
                <a:solidFill>
                  <a:schemeClr val="dk1"/>
                </a:solidFill>
                <a:latin typeface="Times New Roman"/>
                <a:ea typeface="Times New Roman"/>
                <a:cs typeface="Times New Roman"/>
                <a:sym typeface="Times New Roman"/>
              </a:rPr>
              <a:t>CNN</a:t>
            </a:r>
            <a:r>
              <a:rPr lang="en-US" sz="2300">
                <a:solidFill>
                  <a:schemeClr val="dk1"/>
                </a:solidFill>
                <a:latin typeface="Times New Roman"/>
                <a:ea typeface="Times New Roman"/>
                <a:cs typeface="Times New Roman"/>
                <a:sym typeface="Times New Roman"/>
              </a:rPr>
              <a:t>, keeping sensitive data secure and private.</a:t>
            </a:r>
            <a:endParaRPr sz="230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2300">
              <a:solidFill>
                <a:schemeClr val="dk1"/>
              </a:solidFill>
              <a:latin typeface="Times New Roman"/>
              <a:ea typeface="Times New Roman"/>
              <a:cs typeface="Times New Roman"/>
              <a:sym typeface="Times New Roman"/>
            </a:endParaRPr>
          </a:p>
          <a:p>
            <a:pPr marL="457200" lvl="0" indent="-374650" algn="l" rtl="0">
              <a:spcBef>
                <a:spcPts val="0"/>
              </a:spcBef>
              <a:spcAft>
                <a:spcPts val="0"/>
              </a:spcAft>
              <a:buClr>
                <a:schemeClr val="dk1"/>
              </a:buClr>
              <a:buSzPts val="2300"/>
              <a:buFont typeface="Times New Roman"/>
              <a:buChar char="●"/>
            </a:pPr>
            <a:r>
              <a:rPr lang="en-US" sz="2300" b="1">
                <a:solidFill>
                  <a:schemeClr val="dk1"/>
                </a:solidFill>
                <a:latin typeface="Times New Roman"/>
                <a:ea typeface="Times New Roman"/>
                <a:cs typeface="Times New Roman"/>
                <a:sym typeface="Times New Roman"/>
              </a:rPr>
              <a:t>Key Achievement:</a:t>
            </a:r>
            <a:r>
              <a:rPr lang="en-US" sz="2300">
                <a:solidFill>
                  <a:schemeClr val="dk1"/>
                </a:solidFill>
                <a:latin typeface="Times New Roman"/>
                <a:ea typeface="Times New Roman"/>
                <a:cs typeface="Times New Roman"/>
                <a:sym typeface="Times New Roman"/>
              </a:rPr>
              <a:t> We proved that a </a:t>
            </a:r>
            <a:r>
              <a:rPr lang="en-US" sz="2300" b="1">
                <a:solidFill>
                  <a:schemeClr val="dk1"/>
                </a:solidFill>
                <a:latin typeface="Times New Roman"/>
                <a:ea typeface="Times New Roman"/>
                <a:cs typeface="Times New Roman"/>
                <a:sym typeface="Times New Roman"/>
              </a:rPr>
              <a:t>custom hardware-software solution</a:t>
            </a:r>
            <a:r>
              <a:rPr lang="en-US" sz="2300">
                <a:solidFill>
                  <a:schemeClr val="dk1"/>
                </a:solidFill>
                <a:latin typeface="Times New Roman"/>
                <a:ea typeface="Times New Roman"/>
                <a:cs typeface="Times New Roman"/>
                <a:sym typeface="Times New Roman"/>
              </a:rPr>
              <a:t> is a superior approach for specialized applications compared to general-purpose or fixed, proprietary platforms.</a:t>
            </a:r>
            <a:endParaRPr sz="23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3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9"/>
          <p:cNvSpPr txBox="1">
            <a:spLocks noGrp="1"/>
          </p:cNvSpPr>
          <p:nvPr>
            <p:ph type="title"/>
          </p:nvPr>
        </p:nvSpPr>
        <p:spPr>
          <a:xfrm>
            <a:off x="457200" y="97775"/>
            <a:ext cx="8229600" cy="621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ea typeface="Times New Roman"/>
                <a:cs typeface="Times New Roman"/>
                <a:sym typeface="Times New Roman"/>
              </a:rPr>
              <a:t>REFERENCES</a:t>
            </a:r>
            <a:endParaRPr dirty="0"/>
          </a:p>
        </p:txBody>
      </p:sp>
      <p:pic>
        <p:nvPicPr>
          <p:cNvPr id="209" name="Google Shape;209;p19"/>
          <p:cNvPicPr preferRelativeResize="0"/>
          <p:nvPr/>
        </p:nvPicPr>
        <p:blipFill rotWithShape="1">
          <a:blip r:embed="rId3">
            <a:alphaModFix/>
          </a:blip>
          <a:srcRect/>
          <a:stretch/>
        </p:blipFill>
        <p:spPr>
          <a:xfrm>
            <a:off x="30363" y="6163464"/>
            <a:ext cx="9144000" cy="843542"/>
          </a:xfrm>
          <a:prstGeom prst="rect">
            <a:avLst/>
          </a:prstGeom>
          <a:noFill/>
          <a:ln>
            <a:noFill/>
          </a:ln>
        </p:spPr>
      </p:pic>
      <p:sp>
        <p:nvSpPr>
          <p:cNvPr id="210" name="Google Shape;210;p19"/>
          <p:cNvSpPr txBox="1"/>
          <p:nvPr/>
        </p:nvSpPr>
        <p:spPr>
          <a:xfrm>
            <a:off x="440025" y="718775"/>
            <a:ext cx="8324700" cy="5288833"/>
          </a:xfrm>
          <a:prstGeom prst="rect">
            <a:avLst/>
          </a:prstGeom>
          <a:noFill/>
          <a:ln>
            <a:noFill/>
          </a:ln>
        </p:spPr>
        <p:txBody>
          <a:bodyPr spcFirstLastPara="1" wrap="square" lIns="91425" tIns="91425" rIns="91425" bIns="91425" anchor="t" anchorCtr="0">
            <a:noAutofit/>
          </a:bodyPr>
          <a:lstStyle/>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J. He et al., “Design and Implementation of a RISC‑V SoC for Real‑Time Epilepsy Detection,” in Proc. IEEE Int. Conf. (SSD), 2023.​</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R. Rimolo‑Donadio et al., “A RISC‑V Based Medical Implantable SoC for High Voltage and Current Tissue Stimulus,” in Proc. IEEE Latin American Symp. Circuits and Systems (LASCAS), 2020.</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L. Guo et al., “68‑Channel Neural Signal Processing System‑on‑Chip with Ultra‑Low Power RISC‑V Core and Hardware Accelerators,” IEEE, 2024.​</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S. </a:t>
            </a:r>
            <a:r>
              <a:rPr lang="en-IN" sz="1600" dirty="0" err="1">
                <a:latin typeface="Times New Roman" panose="02020603050405020304" pitchFamily="18" charset="0"/>
                <a:cs typeface="Times New Roman" panose="02020603050405020304" pitchFamily="18" charset="0"/>
              </a:rPr>
              <a:t>Schönle</a:t>
            </a:r>
            <a:r>
              <a:rPr lang="en-IN" sz="1600" dirty="0">
                <a:latin typeface="Times New Roman" panose="02020603050405020304" pitchFamily="18" charset="0"/>
                <a:cs typeface="Times New Roman" panose="02020603050405020304" pitchFamily="18" charset="0"/>
              </a:rPr>
              <a:t> et al., “A Multi‑Sensor and Parallel Processing SoC for Miniaturized Medical Instrumentation,” IEEE J. Solid‑State Circuits, vol. 53, no. 7, Jul. 2018.​</a:t>
            </a:r>
          </a:p>
          <a:p>
            <a:pPr marL="342900" indent="-342900">
              <a:buFont typeface="+mj-lt"/>
              <a:buAutoNum type="arabicPeriod"/>
            </a:pPr>
            <a:r>
              <a:rPr lang="en-IN" sz="1600" dirty="0" err="1">
                <a:latin typeface="Times New Roman" panose="02020603050405020304" pitchFamily="18" charset="0"/>
                <a:cs typeface="Times New Roman" panose="02020603050405020304" pitchFamily="18" charset="0"/>
              </a:rPr>
              <a:t>Gamatié</a:t>
            </a:r>
            <a:r>
              <a:rPr lang="en-IN" sz="1600" dirty="0">
                <a:latin typeface="Times New Roman" panose="02020603050405020304" pitchFamily="18" charset="0"/>
                <a:cs typeface="Times New Roman" panose="02020603050405020304" pitchFamily="18" charset="0"/>
              </a:rPr>
              <a:t> et al., “Towards Energy‑Efficient Heterogeneous Multicore Architectures for Embedded Systems,” IEEE Trans. </a:t>
            </a:r>
            <a:r>
              <a:rPr lang="en-IN" sz="1600" dirty="0" err="1">
                <a:latin typeface="Times New Roman" panose="02020603050405020304" pitchFamily="18" charset="0"/>
                <a:cs typeface="Times New Roman" panose="02020603050405020304" pitchFamily="18" charset="0"/>
              </a:rPr>
              <a:t>Comput</a:t>
            </a:r>
            <a:r>
              <a:rPr lang="en-IN" sz="1600" dirty="0">
                <a:latin typeface="Times New Roman" panose="02020603050405020304" pitchFamily="18" charset="0"/>
                <a:cs typeface="Times New Roman" panose="02020603050405020304" pitchFamily="18" charset="0"/>
              </a:rPr>
              <a:t>., vol. 68, no. 1, 2019.​</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E. Choi et al., “Development of an Ultra‑Low Power RISC‑V Processor for Wearable Anomaly Detection,” J. Syst. Archit., vol. 154, 2024.</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G. Leone et al., “</a:t>
            </a:r>
            <a:r>
              <a:rPr lang="en-IN" sz="1600" dirty="0" err="1">
                <a:latin typeface="Times New Roman" panose="02020603050405020304" pitchFamily="18" charset="0"/>
                <a:cs typeface="Times New Roman" panose="02020603050405020304" pitchFamily="18" charset="0"/>
              </a:rPr>
              <a:t>SYNtzulu</a:t>
            </a:r>
            <a:r>
              <a:rPr lang="en-IN" sz="1600" dirty="0">
                <a:latin typeface="Times New Roman" panose="02020603050405020304" pitchFamily="18" charset="0"/>
                <a:cs typeface="Times New Roman" panose="02020603050405020304" pitchFamily="18" charset="0"/>
              </a:rPr>
              <a:t>: A Tiny RISC‑V‑Controlled SNN Processor for Near‑Sensor Data Processing,” in Proc. IEEE Int. Symp. Circuits and Systems (ISCAS), 2024.</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M. S. Islam et al., “A Low‑Cost Hardware Architecture of Convolutional Neural Network for ECG Signal Classification,” IEEE Access, vol. 9, 2021.</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K. Balasubramanian et al., “A Clinically‑Grounded Survey Across EEG, ECG, and Other </a:t>
            </a:r>
            <a:r>
              <a:rPr lang="en-IN" sz="1600" dirty="0" err="1">
                <a:latin typeface="Times New Roman" panose="02020603050405020304" pitchFamily="18" charset="0"/>
                <a:cs typeface="Times New Roman" panose="02020603050405020304" pitchFamily="18" charset="0"/>
              </a:rPr>
              <a:t>Biosignal</a:t>
            </a:r>
            <a:r>
              <a:rPr lang="en-IN" sz="1600" dirty="0">
                <a:latin typeface="Times New Roman" panose="02020603050405020304" pitchFamily="18" charset="0"/>
                <a:cs typeface="Times New Roman" panose="02020603050405020304" pitchFamily="18" charset="0"/>
              </a:rPr>
              <a:t> CNN Hardware Platforms,” IEEE, 2025.</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K. M. Awan et al., “A Hardware‑Efficient and Flexible Mini‑</a:t>
            </a:r>
            <a:r>
              <a:rPr lang="en-IN" sz="1600" dirty="0" err="1">
                <a:latin typeface="Times New Roman" panose="02020603050405020304" pitchFamily="18" charset="0"/>
                <a:cs typeface="Times New Roman" panose="02020603050405020304" pitchFamily="18" charset="0"/>
              </a:rPr>
              <a:t>InceptionNet</a:t>
            </a:r>
            <a:r>
              <a:rPr lang="en-IN" sz="1600" dirty="0">
                <a:latin typeface="Times New Roman" panose="02020603050405020304" pitchFamily="18" charset="0"/>
                <a:cs typeface="Times New Roman" panose="02020603050405020304" pitchFamily="18" charset="0"/>
              </a:rPr>
              <a:t> Accelerator for 1‑D CNN‑Based ECG Analysis,” in Proc. IEEE Conf., 2025</a:t>
            </a:r>
          </a:p>
          <a:p>
            <a:r>
              <a:rPr lang="en-IN" sz="1600"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22"/>
          <p:cNvPicPr preferRelativeResize="0"/>
          <p:nvPr/>
        </p:nvPicPr>
        <p:blipFill rotWithShape="1">
          <a:blip r:embed="rId3">
            <a:alphaModFix/>
          </a:blip>
          <a:srcRect/>
          <a:stretch/>
        </p:blipFill>
        <p:spPr>
          <a:xfrm>
            <a:off x="0" y="6025166"/>
            <a:ext cx="9144000" cy="843542"/>
          </a:xfrm>
          <a:prstGeom prst="rect">
            <a:avLst/>
          </a:prstGeom>
          <a:noFill/>
          <a:ln>
            <a:noFill/>
          </a:ln>
        </p:spPr>
      </p:pic>
      <p:sp>
        <p:nvSpPr>
          <p:cNvPr id="223" name="Google Shape;223;p22"/>
          <p:cNvSpPr txBox="1"/>
          <p:nvPr/>
        </p:nvSpPr>
        <p:spPr>
          <a:xfrm>
            <a:off x="1331640" y="2636912"/>
            <a:ext cx="5635367"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chemeClr val="dk1"/>
                </a:solidFill>
                <a:latin typeface="Times New Roman"/>
                <a:ea typeface="Times New Roman"/>
                <a:cs typeface="Times New Roman"/>
                <a:sym typeface="Times New Roman"/>
              </a:rPr>
              <a:t>       </a:t>
            </a:r>
            <a:r>
              <a:rPr lang="en-US" sz="4400" b="1">
                <a:solidFill>
                  <a:schemeClr val="dk1"/>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1598</Words>
  <Application>Microsoft Office PowerPoint</Application>
  <PresentationFormat>On-screen Show (4:3)</PresentationFormat>
  <Paragraphs>178</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Default Design</vt:lpstr>
      <vt:lpstr>HETEROGENEOUS MULTI-CORE SOC ARCHITECTURE FOR REAL-TIME BIOMEDICAL DATA ANALYSIS</vt:lpstr>
      <vt:lpstr>PROBLEM DEFINITION</vt:lpstr>
      <vt:lpstr>EXISTING SOLUTION</vt:lpstr>
      <vt:lpstr>  LITERATURE REVIEW</vt:lpstr>
      <vt:lpstr>OBSERVATIONS FROM EXISTING METHODOLOGIES </vt:lpstr>
      <vt:lpstr>PROPOSED SOLUTION</vt:lpstr>
      <vt:lpstr>FIR FILTER (V-MAC)</vt:lpstr>
      <vt:lpstr>FIR FILTER (CUSTOM V-MAC)</vt:lpstr>
      <vt:lpstr>FAST FOURIER TRANSFORM (FFT)</vt:lpstr>
      <vt:lpstr>HARDWARE ACCELERATOR(CNN)</vt:lpstr>
      <vt:lpstr>PowerPoint Presentation</vt:lpstr>
      <vt:lpstr>OVERALL SOC ARCHITECTURE</vt:lpstr>
      <vt:lpstr>PROPOSED METHODOLOGY OVERVIEW</vt:lpstr>
      <vt:lpstr>COMPONENTS REQUIRED:</vt:lpstr>
      <vt:lpstr>RESULT – PROCESSOR</vt:lpstr>
      <vt:lpstr>RESULT – PROCESSOR</vt:lpstr>
      <vt:lpstr>RESULT – PROCESSOR</vt:lpstr>
      <vt:lpstr>RESULT – FILTER PROCESS</vt:lpstr>
      <vt:lpstr>RESULT – CNN  DETECTION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mahameenakshis</dc:creator>
  <cp:lastModifiedBy>Balaji S</cp:lastModifiedBy>
  <cp:revision>13</cp:revision>
  <dcterms:created xsi:type="dcterms:W3CDTF">2015-06-10T07:22:14Z</dcterms:created>
  <dcterms:modified xsi:type="dcterms:W3CDTF">2025-12-28T16:14:18Z</dcterms:modified>
</cp:coreProperties>
</file>