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6" r:id="rId17"/>
    <p:sldId id="270" r:id="rId18"/>
    <p:sldId id="271" r:id="rId19"/>
    <p:sldId id="272" r:id="rId20"/>
    <p:sldId id="273" r:id="rId21"/>
    <p:sldId id="274" r:id="rId2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M+FQWB09mP7JpfQqSUp39kM8W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34A7D7-CBE5-4F64-A7C4-6B1F1DB8436E}">
  <a:tblStyle styleId="{1B34A7D7-CBE5-4F64-A7C4-6B1F1DB8436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3e950286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02" name="Google Shape;102;g3853e950286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Balaji</a:t>
            </a:r>
            <a:endParaRPr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Balaji</a:t>
            </a:r>
            <a:endParaRPr dirty="0"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Balaji</a:t>
            </a:r>
            <a:endParaRPr dirty="0"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53e950286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34" name="Google Shape;134;g3853e950286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53e950286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48" name="Google Shape;148;g3853e950286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Balaji</a:t>
            </a:r>
            <a:endParaRPr dirty="0"/>
          </a:p>
        </p:txBody>
      </p:sp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Balaji</a:t>
            </a:r>
            <a:endParaRPr dirty="0"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Balaji</a:t>
            </a:r>
            <a:endParaRPr dirty="0"/>
          </a:p>
        </p:txBody>
      </p:sp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85" name="Google Shape;1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07712CB5-55BF-202E-18B5-7638D8994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CBA0CE7E-69C6-D32B-974E-5945109E3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E210157D-4477-48A1-CA9C-B93025DB89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8425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B560A57D-94E3-9CAB-4767-7FF272000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51F2746D-4EBB-3EF2-D398-34920F48EE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D1986A71-C19A-F5EC-033E-AEFD9FE3FE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7452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99" name="Google Shape;1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206" name="Google Shape;2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53e95028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213" name="Google Shape;213;g3853e95028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Both</a:t>
            </a:r>
            <a:endParaRPr dirty="0"/>
          </a:p>
        </p:txBody>
      </p:sp>
      <p:sp>
        <p:nvSpPr>
          <p:cNvPr id="220" name="Google Shape;22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07504" y="836712"/>
            <a:ext cx="8928992" cy="142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HETEROGENEOUS MULTI-CORE SOC ARCHITECTURE FOR REAL-TIME BIOMEDICAL DATA ANALYSIS</a:t>
            </a:r>
            <a:endParaRPr sz="31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372583" y="3800443"/>
            <a:ext cx="6409977" cy="180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76064" y="2600114"/>
            <a:ext cx="7772400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 :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BALAJI 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2EC019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MANIKANDAN 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22EC070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Ms.SUBBULAKSHMI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M.E.,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1" y="6071153"/>
            <a:ext cx="9144000" cy="843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 flipH="1">
            <a:off x="529206" y="233202"/>
            <a:ext cx="8716111" cy="498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PROBLEM DEFINITION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839249"/>
            <a:ext cx="8229600" cy="47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Current systems for real-time biomedical data analysis are inefficient and pose security risks.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Computational Inefficiency: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General-purpose processors (GPPs) are slow and power-hungry for crucial tasks like signal filtering, causing unacceptable delays in real-time applications.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Latency &amp; Security: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Relying on the cloud for data processing introduces delays and exposes sensitive patient data to security risks.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Fixed Hardware: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Existing solutions use pre-built processors that can't be modified. This prevents us from creating specialized hardware for our specific needs.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Inaccurate Diagnosis: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Calculation errors in bio-signals often occur due to the inefficient and incomplete removal of noise, affecting diagnostic accuracy.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3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4458"/>
            <a:ext cx="9144000" cy="843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53e950286_1_7"/>
          <p:cNvSpPr txBox="1">
            <a:spLocks noGrp="1"/>
          </p:cNvSpPr>
          <p:nvPr>
            <p:ph type="title"/>
          </p:nvPr>
        </p:nvSpPr>
        <p:spPr>
          <a:xfrm flipH="1">
            <a:off x="529117" y="233202"/>
            <a:ext cx="87162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EXISTING SOLUTION</a:t>
            </a:r>
            <a:endParaRPr/>
          </a:p>
        </p:txBody>
      </p:sp>
      <p:pic>
        <p:nvPicPr>
          <p:cNvPr id="105" name="Google Shape;105;g3853e950286_1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4458"/>
            <a:ext cx="9144001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853e950286_1_7"/>
          <p:cNvSpPr txBox="1"/>
          <p:nvPr/>
        </p:nvSpPr>
        <p:spPr>
          <a:xfrm rot="10800000" flipH="1">
            <a:off x="179511" y="1121155"/>
            <a:ext cx="930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07" name="Google Shape;107;g3853e950286_1_7"/>
          <p:cNvSpPr txBox="1"/>
          <p:nvPr/>
        </p:nvSpPr>
        <p:spPr>
          <a:xfrm>
            <a:off x="371475" y="826300"/>
            <a:ext cx="8227200" cy="48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General-Purpose Microcontrollers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These are not designed for computationally intensive tasks, making them slow and power-hungry for complex signal processing.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Off-the-Shelf DSP Processors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DSP processors are fast, but they have a fixed Instruction Set Architecture (ISA) that cannot be modified with application-specific instructions.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Cloud-Based Solutions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They offer powerful processing but introduce unacceptable latency and significant privacy risks for sensitive data.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Hardware Accelerators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These often focus on a single task, such as a CNN accelerator, but are not integrated into a complete System-on-Chip (SoC) that also includes general processing cores and peripherals.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883659" y="63983"/>
            <a:ext cx="7211100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09600" y="1219200"/>
            <a:ext cx="8077200" cy="372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4" name="Google Shape;114;p4"/>
          <p:cNvGraphicFramePr/>
          <p:nvPr/>
        </p:nvGraphicFramePr>
        <p:xfrm>
          <a:off x="174340" y="1028705"/>
          <a:ext cx="8795300" cy="4727225"/>
        </p:xfrm>
        <a:graphic>
          <a:graphicData uri="http://schemas.openxmlformats.org/drawingml/2006/table">
            <a:tbl>
              <a:tblPr firstRow="1" bandRow="1">
                <a:noFill/>
                <a:tableStyleId>{1B34A7D7-CBE5-4F64-A7C4-6B1F1DB8436E}</a:tableStyleId>
              </a:tblPr>
              <a:tblGrid>
                <a:gridCol w="70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7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Title/Year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 name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Discussion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</a:t>
                      </a:r>
                      <a:r>
                        <a:rPr lang="en-US" sz="1400"/>
                        <a:t>1.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Real-Time QRS Detection Algorithm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(1985)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J. Pan &amp; W.J. Tompkins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classic paper presents a real-time, software-based algorithm for detecting QRS complexes in ECG signals. While influential, it relies on a general-purpose processor computational power. The algorithm is effective for its time but would be inefficient and power-hungry for continuous monitoring on a battery-powered device compared to a hardware-accelerated solution.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Eyeriss</a:t>
                      </a: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A Spatial Architecture for Energy-Efficient Dataflow for Convolutional Neural Networks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(2016)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V. Sze, et al.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work proposes a specialized hardware accelerator for CNNs. The discussion focuses on a dedicated architecture for deep learning. However, it is a standalone accelerator, not a complete SoC with a general-purpose core, DSP capabilities, and peripherals. Your project combines these elements, offering a more complete solution.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4458"/>
            <a:ext cx="9144000" cy="843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606388" y="12"/>
            <a:ext cx="7931100" cy="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609600" y="1219200"/>
            <a:ext cx="8077200" cy="372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2" name="Google Shape;122;p5"/>
          <p:cNvGraphicFramePr/>
          <p:nvPr/>
        </p:nvGraphicFramePr>
        <p:xfrm>
          <a:off x="179512" y="916067"/>
          <a:ext cx="8785000" cy="4825100"/>
        </p:xfrm>
        <a:graphic>
          <a:graphicData uri="http://schemas.openxmlformats.org/drawingml/2006/table">
            <a:tbl>
              <a:tblPr firstRow="1" bandRow="1">
                <a:noFill/>
                <a:tableStyleId>{1B34A7D7-CBE5-4F64-A7C4-6B1F1DB8436E}</a:tableStyleId>
              </a:tblPr>
              <a:tblGrid>
                <a:gridCol w="70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8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Title/Year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 name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Discussion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96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ARM System-on-Chip Architecture (2015)</a:t>
                      </a:r>
                      <a:endParaRPr sz="17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Furber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book, while a key reference for SoC design, discusses a commercial, off-the-shelf architecture (ARM). ARM cores are powerful but have a fixed Instruction Set Architecture (ISA). Your project's unique value is its custom, extensible RISC-V ISA, which allows for application-specific instructions and a deeper level of hardware-software co-design.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96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wireless system for real-time human pose detection" (2015)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F. Adib, et al.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paper demonstrates the use of a system for real-time signal processing in a non-ECG context. While it highlights the need for real-time processing, the hardware solution is often based on standard chips. Your project's core innovation is the custom silicon design, which provides a level of optimization that cannot be achieved with off-the-shelf components.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3" name="Google Shape;12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4458"/>
            <a:ext cx="9144000" cy="843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OBSERVATIONS FROM EXISTING METHODOLOGIES </a:t>
            </a:r>
            <a:endParaRPr sz="3600"/>
          </a:p>
        </p:txBody>
      </p:sp>
      <p:sp>
        <p:nvSpPr>
          <p:cNvPr id="129" name="Google Shape;129;p6"/>
          <p:cNvSpPr txBox="1"/>
          <p:nvPr/>
        </p:nvSpPr>
        <p:spPr>
          <a:xfrm>
            <a:off x="3279482" y="2763855"/>
            <a:ext cx="716454" cy="3236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25166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276225" y="1574000"/>
            <a:ext cx="84105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Hardware-Level Optimization:</a:t>
            </a: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must use custom hardware to solve the inefficiency of general-purpose processors.</a:t>
            </a: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Noise Removal combined with Accelerated Analysis:</a:t>
            </a: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single platform is needed that can both clean the raw signal and then run advanced analysis on it at high speed.</a:t>
            </a: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System Integration:</a:t>
            </a: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entire system—including processing, memory, and peripherals—must be integrated on a single chip to reduce latency and power consumption.</a:t>
            </a:r>
            <a:endParaRPr sz="4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53e950286_1_14"/>
          <p:cNvSpPr txBox="1">
            <a:spLocks noGrp="1"/>
          </p:cNvSpPr>
          <p:nvPr>
            <p:ph type="title"/>
          </p:nvPr>
        </p:nvSpPr>
        <p:spPr>
          <a:xfrm flipH="1">
            <a:off x="529117" y="233202"/>
            <a:ext cx="87162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/>
          </a:p>
        </p:txBody>
      </p:sp>
      <p:sp>
        <p:nvSpPr>
          <p:cNvPr id="137" name="Google Shape;137;g3853e950286_1_14"/>
          <p:cNvSpPr txBox="1">
            <a:spLocks noGrp="1"/>
          </p:cNvSpPr>
          <p:nvPr>
            <p:ph type="body" idx="1"/>
          </p:nvPr>
        </p:nvSpPr>
        <p:spPr>
          <a:xfrm>
            <a:off x="457200" y="946725"/>
            <a:ext cx="82296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 custom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System-on-a-Chip (SoC)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built on a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heterogeneous multi-core RISC-V architecture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Dual-Core Design: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General-Purpose Core: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Manages system control and peripherals.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Dedicated DSP Core: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Handles all intensive signal processing tasks.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Hardware Acceleration: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Custom Instructions: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Our DSP core features a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Vector Multiply-Accumulate (VMAC)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instruction for ultra-fast filtering.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Dedicated Accelerators: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DMA controller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automates data transfer, and a specialized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AI/ML accelerator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handles on-device CNN analysis.</a:t>
            </a:r>
            <a:endParaRPr sz="5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dirty="0"/>
          </a:p>
          <a:p>
            <a:pPr marL="0" lvl="0" indent="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dirty="0"/>
          </a:p>
          <a:p>
            <a:pPr marL="342900" lvl="0" indent="-1397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dirty="0"/>
          </a:p>
          <a:p>
            <a:pPr marL="342900" lvl="0" indent="-1397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dirty="0"/>
          </a:p>
        </p:txBody>
      </p:sp>
      <p:pic>
        <p:nvPicPr>
          <p:cNvPr id="138" name="Google Shape;138;g3853e950286_1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4458"/>
            <a:ext cx="9144001" cy="843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>
            <a:spLocks noGrp="1"/>
          </p:cNvSpPr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 FILTER (V-MAC)</a:t>
            </a:r>
            <a:endParaRPr sz="5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25166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 txBox="1"/>
          <p:nvPr/>
        </p:nvSpPr>
        <p:spPr>
          <a:xfrm>
            <a:off x="457200" y="999925"/>
            <a:ext cx="8521800" cy="45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ECG signals are too noisy for accurate analysis. We need to remove noise efficiently.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 a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 filter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because it's stable and effective at removing noise.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designed a custom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V-MAC instruction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our processor. This instruction is the key to accelerating the FIR filter.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V-MAC instruction makes our SoC significantly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more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power-efficient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 a standard processor for this specific task.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53e950286_1_40"/>
          <p:cNvSpPr txBox="1">
            <a:spLocks noGrp="1"/>
          </p:cNvSpPr>
          <p:nvPr>
            <p:ph type="title"/>
          </p:nvPr>
        </p:nvSpPr>
        <p:spPr>
          <a:xfrm>
            <a:off x="457200" y="175375"/>
            <a:ext cx="82296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FOURIER TRANSFORM (FFT)</a:t>
            </a:r>
            <a:endParaRPr sz="5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g3853e950286_1_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25166"/>
            <a:ext cx="9144001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853e950286_1_40"/>
          <p:cNvSpPr txBox="1"/>
          <p:nvPr/>
        </p:nvSpPr>
        <p:spPr>
          <a:xfrm>
            <a:off x="457200" y="1124150"/>
            <a:ext cx="8521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ECG signals contain hidden noise frequencies that are hard to remove with simple filtering.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</a:rPr>
              <a:t>We use </a:t>
            </a:r>
            <a:r>
              <a:rPr lang="en-US" sz="2400" b="1" dirty="0">
                <a:solidFill>
                  <a:schemeClr val="dk1"/>
                </a:solidFill>
              </a:rPr>
              <a:t>FFT</a:t>
            </a:r>
            <a:r>
              <a:rPr lang="en-US" sz="2400" dirty="0">
                <a:solidFill>
                  <a:schemeClr val="dk1"/>
                </a:solidFill>
              </a:rPr>
              <a:t> to analyze the signal's frequency content and precisely locate noise.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designed a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Bit-Reversal instruction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accelerate the FFT algorithm.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SoC can perform frequency analysis and prepare data for AI with greater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 a standard processor.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HARDWARE ACCELERATOR(CNN)</a:t>
            </a:r>
            <a:endParaRPr dirty="0"/>
          </a:p>
        </p:txBody>
      </p:sp>
      <p:pic>
        <p:nvPicPr>
          <p:cNvPr id="158" name="Google Shape;15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4458"/>
            <a:ext cx="9144000" cy="101494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 txBox="1"/>
          <p:nvPr/>
        </p:nvSpPr>
        <p:spPr>
          <a:xfrm>
            <a:off x="569200" y="1298650"/>
            <a:ext cx="8305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224700" y="1072650"/>
            <a:ext cx="8462100" cy="43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performs automated diagnosis by running a pre-trained </a:t>
            </a: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</a:t>
            </a: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on the data.</a:t>
            </a: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accelerates the core mathematical computations of the </a:t>
            </a: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</a:t>
            </a: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such as convolutions, far more efficiently than a CPU.</a:t>
            </a: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enables </a:t>
            </a: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on-device intelligence</a:t>
            </a: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allowing the system to make a diagnosis in real time without a network connection.</a:t>
            </a: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ensures </a:t>
            </a: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privacy and security</a:t>
            </a: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processing all sensitive information locally on the chip.</a:t>
            </a:r>
            <a:endParaRPr sz="4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/>
        </p:nvSpPr>
        <p:spPr>
          <a:xfrm>
            <a:off x="281600" y="286500"/>
            <a:ext cx="865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HETEROGENEOUS MULTI-CORE</a:t>
            </a:r>
            <a:endParaRPr sz="3600"/>
          </a:p>
        </p:txBody>
      </p:sp>
      <p:pic>
        <p:nvPicPr>
          <p:cNvPr id="166" name="Google Shape;16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25166"/>
            <a:ext cx="9144000" cy="843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9" title="multi-core-hardware-accelerat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32999"/>
            <a:ext cx="4601824" cy="478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 txBox="1"/>
          <p:nvPr/>
        </p:nvSpPr>
        <p:spPr>
          <a:xfrm>
            <a:off x="4933675" y="962025"/>
            <a:ext cx="4084800" cy="47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heterogeneous multi-core architecture is designed to divide labor between two specialized cores.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General-Purpose </a:t>
            </a:r>
            <a:r>
              <a:rPr lang="en-US" sz="20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:Manages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high-level system control and peripherals.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DSP </a:t>
            </a:r>
            <a:r>
              <a:rPr lang="en-US" sz="20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:Handles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intensive signal processing and data analysis tasks.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division ensures that the system is both highly responsive and extremely efficient at its core functions.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>
            <a:spLocks noGrp="1"/>
          </p:cNvSpPr>
          <p:nvPr>
            <p:ph type="title"/>
          </p:nvPr>
        </p:nvSpPr>
        <p:spPr>
          <a:xfrm>
            <a:off x="152400" y="0"/>
            <a:ext cx="8839200" cy="6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Times New Roman"/>
                <a:ea typeface="Times New Roman"/>
                <a:cs typeface="Times New Roman"/>
                <a:sym typeface="Times New Roman"/>
              </a:rPr>
              <a:t>PROPOSED METHODOLOGY OVERVIEW</a:t>
            </a:r>
            <a:endParaRPr sz="3700"/>
          </a:p>
        </p:txBody>
      </p:sp>
      <p:pic>
        <p:nvPicPr>
          <p:cNvPr id="174" name="Google Shape;17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4458"/>
            <a:ext cx="9144000" cy="1014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0" title="BLOCK_DIAGRAM_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61975"/>
            <a:ext cx="9144002" cy="55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>
            <a:spLocks noGrp="1"/>
          </p:cNvSpPr>
          <p:nvPr>
            <p:ph type="title"/>
          </p:nvPr>
        </p:nvSpPr>
        <p:spPr>
          <a:xfrm>
            <a:off x="385775" y="0"/>
            <a:ext cx="82296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Times New Roman"/>
                <a:ea typeface="Times New Roman"/>
                <a:cs typeface="Times New Roman"/>
                <a:sym typeface="Times New Roman"/>
              </a:rPr>
              <a:t>SOC EXECUTION LAYERS</a:t>
            </a:r>
            <a:endParaRPr sz="2900"/>
          </a:p>
        </p:txBody>
      </p:sp>
      <p:pic>
        <p:nvPicPr>
          <p:cNvPr id="181" name="Google Shape;18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0" cy="843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1" title="BLOCK_DIAGRAM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19200"/>
            <a:ext cx="9144001" cy="554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>
            <a:spLocks noGrp="1"/>
          </p:cNvSpPr>
          <p:nvPr>
            <p:ph type="title"/>
          </p:nvPr>
        </p:nvSpPr>
        <p:spPr>
          <a:xfrm>
            <a:off x="487563" y="1040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COMPONENTS REQUIRED:</a:t>
            </a:r>
            <a:endParaRPr sz="4000" dirty="0"/>
          </a:p>
        </p:txBody>
      </p:sp>
      <p:pic>
        <p:nvPicPr>
          <p:cNvPr id="188" name="Google Shape;18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 txBox="1"/>
          <p:nvPr/>
        </p:nvSpPr>
        <p:spPr>
          <a:xfrm>
            <a:off x="535350" y="1276700"/>
            <a:ext cx="8281800" cy="43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Design Tools: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HDL Language: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SystemVerilog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HDL Simulator: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Synopsys VCS &amp; Verdi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Synthesis Tool: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Synopsys Design Compiler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Development Tools: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RISC-V GCC Toolchain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Environment: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UVM (Universal Verification Methodology)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Assertions and Coverages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704C8F37-55D4-A933-D980-C663B525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E057B977-8733-D940-BCA2-A4AB7EA3BB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2199"/>
            <a:ext cx="8229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cs typeface="Times New Roman"/>
                <a:sym typeface="Times New Roman"/>
              </a:rPr>
              <a:t>PROGRESS</a:t>
            </a:r>
            <a:endParaRPr sz="4000" dirty="0"/>
          </a:p>
        </p:txBody>
      </p:sp>
      <p:pic>
        <p:nvPicPr>
          <p:cNvPr id="195" name="Google Shape;195;p16">
            <a:extLst>
              <a:ext uri="{FF2B5EF4-FFF2-40B4-BE49-F238E27FC236}">
                <a16:creationId xmlns:a16="http://schemas.microsoft.com/office/drawing/2014/main" id="{DB874303-0A3F-9893-8AF4-8487D20890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8BF130D5-CBF7-FCF6-EDB0-595976F4AA3F}"/>
              </a:ext>
            </a:extLst>
          </p:cNvPr>
          <p:cNvSpPr txBox="1"/>
          <p:nvPr/>
        </p:nvSpPr>
        <p:spPr>
          <a:xfrm>
            <a:off x="390300" y="672166"/>
            <a:ext cx="8296500" cy="1634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Project Status: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successfully completed the design of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RISC-V RV32I pipelined processor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the foundational core of our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is now ready for the next phase, which involves integrating our custom hardware, peripherals, and the second core to create the full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System-on-a-Chip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0BE50F-8E39-A39E-C0CA-F3AA55A28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363" y="2406941"/>
            <a:ext cx="9144000" cy="37565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0C18EA-405B-798C-52BA-D6A63134CC8E}"/>
              </a:ext>
            </a:extLst>
          </p:cNvPr>
          <p:cNvSpPr txBox="1"/>
          <p:nvPr/>
        </p:nvSpPr>
        <p:spPr>
          <a:xfrm>
            <a:off x="30363" y="2306470"/>
            <a:ext cx="5017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Processor Architecture from Synopsys VCS: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317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D36561F2-FAC7-3627-2EE7-AE4378754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E73F8E19-5617-C311-8B20-43950ADE4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2199"/>
            <a:ext cx="8229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cs typeface="Times New Roman"/>
                <a:sym typeface="Times New Roman"/>
              </a:rPr>
              <a:t>PROGRESS</a:t>
            </a:r>
            <a:endParaRPr sz="4000" dirty="0"/>
          </a:p>
        </p:txBody>
      </p:sp>
      <p:pic>
        <p:nvPicPr>
          <p:cNvPr id="195" name="Google Shape;195;p16">
            <a:extLst>
              <a:ext uri="{FF2B5EF4-FFF2-40B4-BE49-F238E27FC236}">
                <a16:creationId xmlns:a16="http://schemas.microsoft.com/office/drawing/2014/main" id="{9AF0CF11-00DE-A040-242A-4042B81D2D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37D1AF-B799-E849-130C-E3457429C96C}"/>
              </a:ext>
            </a:extLst>
          </p:cNvPr>
          <p:cNvSpPr txBox="1"/>
          <p:nvPr/>
        </p:nvSpPr>
        <p:spPr>
          <a:xfrm>
            <a:off x="0" y="571695"/>
            <a:ext cx="5017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Simulated Waveform of Pipelined Processor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78BFF-B5A5-8759-0167-C2B24A326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14984"/>
            <a:ext cx="9144000" cy="514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392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487575" y="231925"/>
            <a:ext cx="82296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TESTING PLAN</a:t>
            </a:r>
            <a:endParaRPr sz="4000"/>
          </a:p>
        </p:txBody>
      </p:sp>
      <p:pic>
        <p:nvPicPr>
          <p:cNvPr id="195" name="Google Shape;19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 txBox="1"/>
          <p:nvPr/>
        </p:nvSpPr>
        <p:spPr>
          <a:xfrm>
            <a:off x="502475" y="1004950"/>
            <a:ext cx="8296500" cy="48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Systematic Functional Testing: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used a rigorous verification plan to systematically test the functionality of every component and every custom instruction.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System-Level Verification: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performed an end-to-end test of the entire data flow, from the simulated sensor to the final diagnosis.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Analysis: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ran tests to quantify our improvements by comparing the clock cycle count of our custom SoC against a standard processor.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Corner-Case Coverage: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Our testing included a variety of scenarios to ensure that the system works correctly even under non-ideal or unexpected conditions.</a:t>
            </a:r>
            <a:endParaRPr sz="4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>
            <a:spLocks noGrp="1"/>
          </p:cNvSpPr>
          <p:nvPr>
            <p:ph type="title"/>
          </p:nvPr>
        </p:nvSpPr>
        <p:spPr>
          <a:xfrm>
            <a:off x="457200" y="110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pic>
        <p:nvPicPr>
          <p:cNvPr id="202" name="Google Shape;20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353325" y="978525"/>
            <a:ext cx="8498100" cy="46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Architectural Innovation: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designed and built a custom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RISC-V SoC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MAC (V-MAC)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Bit-Reversal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instructions to accelerate signal processing.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&amp; Efficiency: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Our design delivers superior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efficiency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performing complex calculations in a single clock cycle.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On-Device Intelligence: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SoC enables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diagnosis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an on-chip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keeping sensitive data secure and private.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Achievement: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proved that a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hardware-software solution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superior approach for specialized applications compared to general-purpose or fixed, proprietary platforms.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>
            <a:spLocks noGrp="1"/>
          </p:cNvSpPr>
          <p:nvPr>
            <p:ph type="title"/>
          </p:nvPr>
        </p:nvSpPr>
        <p:spPr>
          <a:xfrm>
            <a:off x="457200" y="97775"/>
            <a:ext cx="82296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pic>
        <p:nvPicPr>
          <p:cNvPr id="209" name="Google Shape;20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440025" y="718775"/>
            <a:ext cx="8324700" cy="52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just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Patterson, D. A., &amp; Hennessy, J. L.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(2018).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Organization and Design RISC-V Edition: The Hardware/Software Interface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Morgan Kaufmann. (Covers RISC-V architecture, pipelining, and basic hardware design).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Mano, M. M., &amp; Ciletti, M. D.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(2012).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Design: With an Introduction to the Verilog HDL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Pearson. (Fundamental concepts of digital logic design and Verilog).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Weste, N. H. E., &amp; Harris, D.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(2010).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CMOS VLSI Design: A Circuits and Systems Perspective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Pearson. (Deep dive into chip design, including physical layout and performance analysis).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Oppenheim, A. V., &amp; Schafer, R. W.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(2014).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Discrete-Time Signal Processing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Pearson. (The bible for DSP concepts like FIR filters and FFT).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RISC-V Foundation.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(2019).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RISC-V Instruction Set Manual, Volume I: Unprivileged ISA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(Official specification for the RISC-V instruction set, including the custom opcode space).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Waterman, A., &amp; Asanovic, K.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(2019).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RISC-V Reader: An Open Architecture Atlas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(A great summary of the RISC-V ISA and its philosophy).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Sutherland, S., et al.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(2012).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SystemVerilog for Verification: A Guide to Learning the Testbench Language Features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Synopsys Press. (The foundational text for SystemVerilog and its use in verification).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53e950286_0_2"/>
          <p:cNvSpPr txBox="1">
            <a:spLocks noGrp="1"/>
          </p:cNvSpPr>
          <p:nvPr>
            <p:ph type="title"/>
          </p:nvPr>
        </p:nvSpPr>
        <p:spPr>
          <a:xfrm>
            <a:off x="457200" y="151825"/>
            <a:ext cx="82296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pic>
        <p:nvPicPr>
          <p:cNvPr id="216" name="Google Shape;216;g3853e950286_0_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1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853e950286_0_2"/>
          <p:cNvSpPr txBox="1"/>
          <p:nvPr/>
        </p:nvSpPr>
        <p:spPr>
          <a:xfrm>
            <a:off x="528600" y="841850"/>
            <a:ext cx="8086800" cy="49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Spear, J.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(2008).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SystemVerilog for Verification: A Guide to Learning the Testbench Language Features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Springer. (A comprehensive guide to UVM methodology).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	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Accellera Systems Initiative.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(2017).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Universal Verification Methodology (UVM) 1.2 User's Guide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(The official UVM standard and documentation).</a:t>
            </a:r>
            <a:endParaRPr sz="17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Goodfellow, I., Bengio, Y., &amp; Courville, A.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(2016).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MIT Press. (Foundational text on deep learning, including CNNs).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Sze, V., et al.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(2017). "Hardware for AI: An Overview."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of Parallel and Distributed Computing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(Provides an overview of hardware accelerators for AI/ML).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Chen, T., et al.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(2016). "Eyeriss: A Spatial Architecture for Energy-Efficient Dataflow for Convolutional Neural Networks."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43rd International Symposium on Computer Architecture (ISCA)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(A seminal paper on a low-power hardware accelerator for CNNs).</a:t>
            </a:r>
            <a:endParaRPr sz="17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Furber, S.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(2015).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 System-on-Chip Architecture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Pearson. (While ARM-centric, this book provides excellent general knowledge on SoC design, including bus protocols).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25166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1331640" y="2636912"/>
            <a:ext cx="563536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1856</Words>
  <Application>Microsoft Office PowerPoint</Application>
  <PresentationFormat>On-screen Show (4:3)</PresentationFormat>
  <Paragraphs>207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Default Design</vt:lpstr>
      <vt:lpstr>HETEROGENEOUS MULTI-CORE SOC ARCHITECTURE FOR REAL-TIME BIOMEDICAL DATA ANALYSIS</vt:lpstr>
      <vt:lpstr>PROBLEM DEFINITION</vt:lpstr>
      <vt:lpstr>EXISTING SOLUTION</vt:lpstr>
      <vt:lpstr>  LITERATURE REVIEW</vt:lpstr>
      <vt:lpstr>LITERATURE REVIEW</vt:lpstr>
      <vt:lpstr>OBSERVATIONS FROM EXISTING METHODOLOGIES </vt:lpstr>
      <vt:lpstr>PROPOSED SOLUTION</vt:lpstr>
      <vt:lpstr>FIR FILTER (V-MAC)</vt:lpstr>
      <vt:lpstr>FAST FOURIER TRANSFORM (FFT)</vt:lpstr>
      <vt:lpstr>HARDWARE ACCELERATOR(CNN)</vt:lpstr>
      <vt:lpstr>PowerPoint Presentation</vt:lpstr>
      <vt:lpstr>PROPOSED METHODOLOGY OVERVIEW</vt:lpstr>
      <vt:lpstr>SOC EXECUTION LAYERS</vt:lpstr>
      <vt:lpstr>COMPONENTS REQUIRED:</vt:lpstr>
      <vt:lpstr>PROGRESS</vt:lpstr>
      <vt:lpstr>PROGRESS</vt:lpstr>
      <vt:lpstr>TESTING PLAN</vt:lpstr>
      <vt:lpstr>CONCLUSION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mahameenakshis</dc:creator>
  <cp:lastModifiedBy>Balaji S</cp:lastModifiedBy>
  <cp:revision>3</cp:revision>
  <dcterms:created xsi:type="dcterms:W3CDTF">2015-06-10T07:22:14Z</dcterms:created>
  <dcterms:modified xsi:type="dcterms:W3CDTF">2025-09-03T15:48:03Z</dcterms:modified>
</cp:coreProperties>
</file>